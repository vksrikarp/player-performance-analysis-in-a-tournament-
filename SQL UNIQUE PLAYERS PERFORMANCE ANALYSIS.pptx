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77" r:id="rId3"/>
    <p:sldId id="258" r:id="rId4"/>
    <p:sldId id="286" r:id="rId5"/>
    <p:sldId id="260" r:id="rId6"/>
    <p:sldId id="261" r:id="rId7"/>
    <p:sldId id="262" r:id="rId8"/>
    <p:sldId id="263" r:id="rId9"/>
    <p:sldId id="274" r:id="rId10"/>
    <p:sldId id="265" r:id="rId11"/>
    <p:sldId id="287" r:id="rId12"/>
    <p:sldId id="288" r:id="rId13"/>
    <p:sldId id="289" r:id="rId14"/>
    <p:sldId id="290" r:id="rId15"/>
    <p:sldId id="291" r:id="rId16"/>
    <p:sldId id="292" r:id="rId17"/>
    <p:sldId id="293" r:id="rId18"/>
    <p:sldId id="294" r:id="rId19"/>
    <p:sldId id="295" r:id="rId20"/>
    <p:sldId id="296" r:id="rId21"/>
    <p:sldId id="268" r:id="rId22"/>
    <p:sldId id="271" r:id="rId23"/>
    <p:sldId id="272" r:id="rId24"/>
    <p:sldId id="259" r:id="rId25"/>
  </p:sldIdLst>
  <p:sldSz cx="12192000" cy="6858000"/>
  <p:notesSz cx="6858000" cy="9144000"/>
  <p:embeddedFontLst>
    <p:embeddedFont>
      <p:font typeface="Libre Baskerville" panose="02000000000000000000" pitchFamily="2" charset="0"/>
      <p:regular r:id="rId27"/>
      <p:bold r:id="rId28"/>
      <p:italic r:id="rId29"/>
      <p:boldItalic r:id="rId30"/>
    </p:embeddedFont>
    <p:embeddedFont>
      <p:font typeface="Lucida Fax" panose="02060602050505020204" pitchFamily="18"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56" autoAdjust="0"/>
  </p:normalViewPr>
  <p:slideViewPr>
    <p:cSldViewPr snapToGrid="0">
      <p:cViewPr>
        <p:scale>
          <a:sx n="75" d="100"/>
          <a:sy n="75" d="100"/>
        </p:scale>
        <p:origin x="946"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AA784E0-31DF-A6A7-1A52-8CFADD92405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55A1354-D6A7-8E95-91F7-C6DB0F896CD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EF9B2A2-2F0B-5E44-973C-BA4F0DBA1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161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cs typeface="Calibri" panose="020F0502020204030204" pitchFamily="34" charset="0"/>
              </a:rPr>
              <a:t>Why is country-to-emissions a one-to-many relationship?</a:t>
            </a: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Because a single country can have multiple emission records across different years and energy types, while each emission record belongs to only one country. Therefore, one country is related to many emission rows, making the relationship one-to-many.</a:t>
            </a:r>
          </a:p>
          <a:p>
            <a:r>
              <a:rPr lang="en-US" dirty="0">
                <a:latin typeface="Calibri" panose="020F0502020204030204" pitchFamily="34" charset="0"/>
                <a:cs typeface="Calibri" panose="020F0502020204030204" pitchFamily="34" charset="0"/>
              </a:rPr>
              <a:t>The same explanation applies to:</a:t>
            </a:r>
          </a:p>
          <a:p>
            <a:r>
              <a:rPr lang="en-US" dirty="0">
                <a:latin typeface="Calibri" panose="020F0502020204030204" pitchFamily="34" charset="0"/>
                <a:cs typeface="Calibri" panose="020F0502020204030204" pitchFamily="34" charset="0"/>
              </a:rPr>
              <a:t>Country -&gt; GDP </a:t>
            </a:r>
          </a:p>
          <a:p>
            <a:r>
              <a:rPr lang="en-US" dirty="0">
                <a:latin typeface="Calibri" panose="020F0502020204030204" pitchFamily="34" charset="0"/>
                <a:cs typeface="Calibri" panose="020F0502020204030204" pitchFamily="34" charset="0"/>
              </a:rPr>
              <a:t>Country -&gt; Population </a:t>
            </a:r>
          </a:p>
          <a:p>
            <a:r>
              <a:rPr lang="en-US" dirty="0">
                <a:latin typeface="Calibri" panose="020F0502020204030204" pitchFamily="34" charset="0"/>
                <a:cs typeface="Calibri" panose="020F0502020204030204" pitchFamily="34" charset="0"/>
              </a:rPr>
              <a:t>Country -&gt; Production </a:t>
            </a:r>
          </a:p>
          <a:p>
            <a:r>
              <a:rPr lang="en-US" dirty="0">
                <a:latin typeface="Calibri" panose="020F0502020204030204" pitchFamily="34" charset="0"/>
                <a:cs typeface="Calibri" panose="020F0502020204030204" pitchFamily="34" charset="0"/>
              </a:rPr>
              <a:t>Country -&gt;  Consumption  </a:t>
            </a:r>
          </a:p>
          <a:p>
            <a:r>
              <a:rPr lang="en-US" dirty="0">
                <a:latin typeface="Calibri" panose="020F0502020204030204" pitchFamily="34" charset="0"/>
                <a:cs typeface="Calibri" panose="020F0502020204030204" pitchFamily="34" charset="0"/>
              </a:rPr>
              <a:t>All of them store </a:t>
            </a:r>
            <a:r>
              <a:rPr lang="en-US" b="1" dirty="0">
                <a:latin typeface="Calibri" panose="020F0502020204030204" pitchFamily="34" charset="0"/>
                <a:cs typeface="Calibri" panose="020F0502020204030204" pitchFamily="34" charset="0"/>
              </a:rPr>
              <a:t>historical data (multiple years)</a:t>
            </a:r>
            <a:r>
              <a:rPr lang="en-US" dirty="0">
                <a:latin typeface="Calibri" panose="020F0502020204030204" pitchFamily="34" charset="0"/>
                <a:cs typeface="Calibri" panose="020F0502020204030204" pitchFamily="34" charset="0"/>
              </a:rPr>
              <a:t>, so one country maps to many rows.</a:t>
            </a:r>
          </a:p>
          <a:p>
            <a:endParaRPr lang="en-IN"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8</a:t>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498551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smtClean="0">
                <a:solidFill>
                  <a:schemeClr val="dk1"/>
                </a:solidFill>
                <a:latin typeface="Calibri" panose="020F0502020204030204"/>
                <a:ea typeface="Calibri" panose="020F0502020204030204"/>
                <a:cs typeface="Calibri" panose="020F0502020204030204"/>
                <a:sym typeface="Calibri" panose="020F0502020204030204"/>
              </a:rPr>
              <a:t>21</a:t>
            </a:fld>
            <a:endPar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2475287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vksrikarp" TargetMode="External"/><Relationship Id="rId2" Type="http://schemas.openxmlformats.org/officeDocument/2006/relationships/hyperlink" Target="https://www.linkedin.com/in/venkata-srikar-potharaju-1746b2218"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srcRect/>
          <a:stretch>
            <a:fillRect/>
          </a:stretch>
        </p:blipFill>
        <p:spPr>
          <a:xfrm>
            <a:off x="592" y="0"/>
            <a:ext cx="12190815" cy="6694098"/>
          </a:xfrm>
          <a:prstGeom prst="rect">
            <a:avLst/>
          </a:prstGeom>
          <a:noFill/>
          <a:ln>
            <a:noFill/>
          </a:ln>
        </p:spPr>
      </p:pic>
      <p:sp>
        <p:nvSpPr>
          <p:cNvPr id="99" name="Google Shape;99;p1"/>
          <p:cNvSpPr txBox="1"/>
          <p:nvPr/>
        </p:nvSpPr>
        <p:spPr>
          <a:xfrm>
            <a:off x="1144905" y="3717925"/>
            <a:ext cx="9494520" cy="706120"/>
          </a:xfrm>
          <a:prstGeom prst="rect">
            <a:avLst/>
          </a:prstGeom>
          <a:noFill/>
          <a:ln>
            <a:noFill/>
          </a:ln>
        </p:spPr>
        <p:txBody>
          <a:bodyPr spcFirstLastPara="1" wrap="square" lIns="91425" tIns="45700" rIns="91425" bIns="45700" anchor="t" anchorCtr="0">
            <a:noAutofit/>
          </a:bodyPr>
          <a:lstStyle/>
          <a:p>
            <a:pPr lvl="0" algn="ctr">
              <a:buSzPts val="1800"/>
            </a:pPr>
            <a:r>
              <a:rPr lang="en-US" sz="3600" u="sng" dirty="0">
                <a:latin typeface="Calibri" panose="020F0502020204030204" pitchFamily="34" charset="0"/>
                <a:cs typeface="Calibri" panose="020F0502020204030204" pitchFamily="34" charset="0"/>
              </a:rPr>
              <a:t>Player Performance Analysis in a Tournament</a:t>
            </a:r>
          </a:p>
          <a:p>
            <a:pPr lvl="0" algn="ctr">
              <a:buSzPts val="1800"/>
            </a:pPr>
            <a:endParaRPr lang="en-US" altLang="en-US" sz="3600" b="1" i="0" u="sng" strike="noStrike" cap="none" dirty="0">
              <a:solidFill>
                <a:schemeClr val="dk1"/>
              </a:solidFill>
              <a:latin typeface="Calibri" panose="020F0502020204030204" pitchFamily="34" charset="0"/>
              <a:ea typeface="Calibri" panose="020F0502020204030204"/>
              <a:cs typeface="Calibri" panose="020F0502020204030204" pitchFamily="34" charset="0"/>
              <a:sym typeface="Calibri" panose="020F0502020204030204"/>
            </a:endParaRPr>
          </a:p>
          <a:p>
            <a:pPr lvl="0" algn="r">
              <a:buSzPts val="1800"/>
            </a:pPr>
            <a:r>
              <a:rPr lang="en-US" altLang="en-US" sz="3600" i="0" strike="noStrike" cap="none" dirty="0">
                <a:solidFill>
                  <a:schemeClr val="dk1"/>
                </a:solidFill>
                <a:latin typeface="Lucida Fax" panose="02060602050505020204" pitchFamily="18" charset="0"/>
                <a:ea typeface="Calibri" panose="020F0502020204030204"/>
                <a:cs typeface="Calibri" panose="020F0502020204030204" pitchFamily="34" charset="0"/>
                <a:sym typeface="Calibri" panose="020F0502020204030204"/>
              </a:rPr>
              <a:t>- </a:t>
            </a:r>
            <a:r>
              <a:rPr lang="en-US" altLang="en-US" sz="2000" i="0" strike="noStrike" cap="none" dirty="0">
                <a:solidFill>
                  <a:schemeClr val="dk1"/>
                </a:solidFill>
                <a:latin typeface="Lucida Fax" panose="02060602050505020204" pitchFamily="18" charset="0"/>
                <a:ea typeface="Calibri" panose="020F0502020204030204"/>
                <a:cs typeface="Calibri" panose="020F0502020204030204" pitchFamily="34" charset="0"/>
                <a:sym typeface="Calibri" panose="020F0502020204030204"/>
              </a:rPr>
              <a:t>Venkata </a:t>
            </a:r>
            <a:r>
              <a:rPr lang="en-US" altLang="en-US" sz="2000" dirty="0">
                <a:solidFill>
                  <a:schemeClr val="dk1"/>
                </a:solidFill>
                <a:latin typeface="Lucida Fax" panose="02060602050505020204" pitchFamily="18" charset="0"/>
                <a:ea typeface="Calibri" panose="020F0502020204030204"/>
                <a:cs typeface="Calibri" panose="020F0502020204030204" pitchFamily="34" charset="0"/>
                <a:sym typeface="Calibri" panose="020F0502020204030204"/>
              </a:rPr>
              <a:t>Srikar Potharaju</a:t>
            </a:r>
            <a:endParaRPr lang="en-US" altLang="en-US" sz="4800" i="0" strike="noStrike" cap="none" dirty="0">
              <a:solidFill>
                <a:schemeClr val="dk1"/>
              </a:solidFill>
              <a:latin typeface="Lucida Fax" panose="02060602050505020204" pitchFamily="18" charset="0"/>
              <a:ea typeface="Calibri" panose="020F0502020204030204"/>
              <a:cs typeface="Calibri" panose="020F0502020204030204" pitchFamily="34" charset="0"/>
              <a:sym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1E556-43A8-44BE-084E-EE04C3ECB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B794D-8B54-C6F0-E11D-A5ECB9DC3B10}"/>
              </a:ext>
            </a:extLst>
          </p:cNvPr>
          <p:cNvSpPr>
            <a:spLocks noGrp="1"/>
          </p:cNvSpPr>
          <p:nvPr>
            <p:ph type="title"/>
          </p:nvPr>
        </p:nvSpPr>
        <p:spPr>
          <a:xfrm>
            <a:off x="1052195" y="577215"/>
            <a:ext cx="10301605" cy="746125"/>
          </a:xfrm>
        </p:spPr>
        <p:txBody>
          <a:bodyPr>
            <a:normAutofit/>
          </a:bodyPr>
          <a:lstStyle/>
          <a:p>
            <a:r>
              <a:rPr lang="en-IN" altLang="en-US" sz="4000" b="1" dirty="0">
                <a:solidFill>
                  <a:srgbClr val="FF0000"/>
                </a:solidFill>
                <a:latin typeface="Arial" panose="020B0604020202020204" pitchFamily="34" charset="0"/>
                <a:cs typeface="Arial" panose="020B0604020202020204" pitchFamily="34" charset="0"/>
              </a:rPr>
              <a:t>About me</a:t>
            </a:r>
          </a:p>
        </p:txBody>
      </p:sp>
      <p:sp>
        <p:nvSpPr>
          <p:cNvPr id="3" name="Text Placeholder 2">
            <a:extLst>
              <a:ext uri="{FF2B5EF4-FFF2-40B4-BE49-F238E27FC236}">
                <a16:creationId xmlns:a16="http://schemas.microsoft.com/office/drawing/2014/main" id="{1A559FC6-A620-F754-D7BA-D83FC79FAFC0}"/>
              </a:ext>
            </a:extLst>
          </p:cNvPr>
          <p:cNvSpPr>
            <a:spLocks noGrp="1"/>
          </p:cNvSpPr>
          <p:nvPr>
            <p:ph type="body" idx="1"/>
          </p:nvPr>
        </p:nvSpPr>
        <p:spPr>
          <a:xfrm>
            <a:off x="838200" y="1678305"/>
            <a:ext cx="10515600" cy="3110005"/>
          </a:xfrm>
        </p:spPr>
        <p:txBody>
          <a:bodyPr>
            <a:normAutofit fontScale="77500" lnSpcReduction="20000"/>
          </a:bodyPr>
          <a:lstStyle/>
          <a:p>
            <a:pPr algn="just">
              <a:lnSpc>
                <a:spcPct val="150000"/>
              </a:lnSpc>
            </a:pPr>
            <a:r>
              <a:rPr lang="en-US" sz="2400" dirty="0">
                <a:latin typeface="Lucida Fax" panose="02060602050505020204" pitchFamily="18" charset="0"/>
              </a:rPr>
              <a:t>My Name is Venkata Srikar Potharaju</a:t>
            </a:r>
          </a:p>
          <a:p>
            <a:pPr algn="just">
              <a:lnSpc>
                <a:spcPct val="150000"/>
              </a:lnSpc>
            </a:pPr>
            <a:r>
              <a:rPr lang="en-US" sz="2400" dirty="0">
                <a:latin typeface="Lucida Fax" panose="02060602050505020204" pitchFamily="18" charset="0"/>
              </a:rPr>
              <a:t>B. Tech, EEE graduate from Vellore Institute of Technology Vellore.</a:t>
            </a:r>
          </a:p>
          <a:p>
            <a:pPr algn="just">
              <a:lnSpc>
                <a:spcPct val="150000"/>
              </a:lnSpc>
            </a:pPr>
            <a:r>
              <a:rPr lang="en-US" sz="2400" dirty="0">
                <a:latin typeface="Lucida Fax" panose="02060602050505020204" pitchFamily="18" charset="0"/>
              </a:rPr>
              <a:t>I worked as an Associate Software Developer and want to change to Data Domain to analyze and draw insights from Data that help in decision making.</a:t>
            </a:r>
          </a:p>
          <a:p>
            <a:pPr algn="just">
              <a:lnSpc>
                <a:spcPct val="150000"/>
              </a:lnSpc>
            </a:pPr>
            <a:r>
              <a:rPr lang="en-US" sz="2400" dirty="0">
                <a:latin typeface="Lucida Fax" panose="02060602050505020204" pitchFamily="18" charset="0"/>
              </a:rPr>
              <a:t>LinkedIn : </a:t>
            </a:r>
            <a:r>
              <a:rPr lang="en-US" sz="2400" dirty="0">
                <a:latin typeface="Lucida Fax" panose="02060602050505020204" pitchFamily="18" charset="0"/>
                <a:hlinkClick r:id="rId2"/>
              </a:rPr>
              <a:t>https://www.linkedin.com/in/venkata-srikar-potharaju-1746b2218</a:t>
            </a:r>
            <a:endParaRPr lang="en-US" sz="2400" dirty="0">
              <a:latin typeface="Lucida Fax" panose="02060602050505020204" pitchFamily="18" charset="0"/>
            </a:endParaRPr>
          </a:p>
          <a:p>
            <a:pPr algn="just">
              <a:lnSpc>
                <a:spcPct val="150000"/>
              </a:lnSpc>
            </a:pPr>
            <a:r>
              <a:rPr lang="en-US" sz="2400" dirty="0">
                <a:latin typeface="Lucida Fax" panose="02060602050505020204" pitchFamily="18" charset="0"/>
              </a:rPr>
              <a:t>GitHub: </a:t>
            </a:r>
            <a:r>
              <a:rPr lang="en-US" sz="2400" dirty="0">
                <a:latin typeface="Lucida Fax" panose="02060602050505020204" pitchFamily="18" charset="0"/>
                <a:hlinkClick r:id="rId3"/>
              </a:rPr>
              <a:t>https://github.com/vksrikarp</a:t>
            </a:r>
            <a:endParaRPr lang="en-US" sz="2400" dirty="0">
              <a:latin typeface="Lucida Fax" panose="02060602050505020204" pitchFamily="18" charset="0"/>
            </a:endParaRPr>
          </a:p>
          <a:p>
            <a:pPr algn="just">
              <a:lnSpc>
                <a:spcPct val="150000"/>
              </a:lnSpc>
            </a:pPr>
            <a:endParaRPr lang="en-US" sz="2400" dirty="0">
              <a:latin typeface="Lucida Fax" panose="02060602050505020204" pitchFamily="18" charset="0"/>
            </a:endParaRPr>
          </a:p>
          <a:p>
            <a:pPr algn="just">
              <a:lnSpc>
                <a:spcPct val="150000"/>
              </a:lnSpc>
            </a:pPr>
            <a:endParaRPr lang="en-US" sz="2400" dirty="0">
              <a:latin typeface="Lucida Fax" panose="02060602050505020204" pitchFamily="18" charset="0"/>
            </a:endParaRPr>
          </a:p>
        </p:txBody>
      </p:sp>
    </p:spTree>
    <p:extLst>
      <p:ext uri="{BB962C8B-B14F-4D97-AF65-F5344CB8AC3E}">
        <p14:creationId xmlns:p14="http://schemas.microsoft.com/office/powerpoint/2010/main" val="728343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390525" y="180340"/>
            <a:ext cx="10333355" cy="9588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sz="4000" b="1" dirty="0">
                <a:solidFill>
                  <a:srgbClr val="FF0000"/>
                </a:solidFill>
                <a:latin typeface="Arial" panose="020B0604020202020204" pitchFamily="34" charset="0"/>
                <a:cs typeface="Arial" panose="020B0604020202020204" pitchFamily="34" charset="0"/>
              </a:rPr>
              <a:t>Agenda </a:t>
            </a: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p>
          <a:p>
            <a:pPr marL="457200" lvl="0" indent="-431800" algn="l" rtl="0">
              <a:lnSpc>
                <a:spcPct val="90000"/>
              </a:lnSpc>
              <a:spcBef>
                <a:spcPts val="1000"/>
              </a:spcBef>
              <a:spcAft>
                <a:spcPts val="0"/>
              </a:spcAft>
              <a:buSzPts val="2400"/>
              <a:buChar char="•"/>
            </a:pPr>
            <a:r>
              <a:rPr lang="en-IN" sz="2400" b="1" dirty="0"/>
              <a:t>Tools Used</a:t>
            </a:r>
          </a:p>
          <a:p>
            <a:pPr marL="457200" lvl="0" indent="-431800" algn="l" rtl="0">
              <a:lnSpc>
                <a:spcPct val="90000"/>
              </a:lnSpc>
              <a:spcBef>
                <a:spcPts val="1000"/>
              </a:spcBef>
              <a:spcAft>
                <a:spcPts val="0"/>
              </a:spcAft>
              <a:buSzPts val="2400"/>
              <a:buChar char="•"/>
            </a:pPr>
            <a:r>
              <a:rPr lang="en-IN" sz="2400" b="1" dirty="0"/>
              <a:t>Problem Statement</a:t>
            </a:r>
          </a:p>
          <a:p>
            <a:pPr marL="457200" lvl="0" indent="-431800" algn="l" rtl="0">
              <a:lnSpc>
                <a:spcPct val="90000"/>
              </a:lnSpc>
              <a:spcBef>
                <a:spcPts val="1000"/>
              </a:spcBef>
              <a:spcAft>
                <a:spcPts val="0"/>
              </a:spcAft>
              <a:buSzPts val="2400"/>
              <a:buChar char="•"/>
            </a:pPr>
            <a:r>
              <a:rPr lang="en-IN" sz="2400" b="1" dirty="0"/>
              <a:t>Objective</a:t>
            </a:r>
          </a:p>
          <a:p>
            <a:pPr marL="457200" lvl="0" indent="-431800" algn="l" rtl="0">
              <a:lnSpc>
                <a:spcPct val="90000"/>
              </a:lnSpc>
              <a:spcBef>
                <a:spcPts val="1000"/>
              </a:spcBef>
              <a:spcAft>
                <a:spcPts val="0"/>
              </a:spcAft>
              <a:buSzPts val="2400"/>
              <a:buChar char="•"/>
            </a:pPr>
            <a:r>
              <a:rPr lang="en-IN" sz="2400" b="1" dirty="0"/>
              <a:t>ER Diagram and Schema Explanation</a:t>
            </a:r>
          </a:p>
          <a:p>
            <a:pPr marL="457200" lvl="0" indent="-431800" algn="l" rtl="0">
              <a:lnSpc>
                <a:spcPct val="90000"/>
              </a:lnSpc>
              <a:spcBef>
                <a:spcPts val="1000"/>
              </a:spcBef>
              <a:spcAft>
                <a:spcPts val="0"/>
              </a:spcAft>
              <a:buSzPts val="2400"/>
              <a:buChar char="•"/>
            </a:pPr>
            <a:r>
              <a:rPr lang="en-IN" sz="2400" b="1" dirty="0"/>
              <a:t>SQL Queries Results</a:t>
            </a:r>
          </a:p>
          <a:p>
            <a:pPr marL="457200" lvl="0" indent="-431800" algn="l" rtl="0">
              <a:lnSpc>
                <a:spcPct val="90000"/>
              </a:lnSpc>
              <a:spcBef>
                <a:spcPts val="1000"/>
              </a:spcBef>
              <a:spcAft>
                <a:spcPts val="0"/>
              </a:spcAft>
              <a:buSzPts val="2400"/>
              <a:buChar char="•"/>
            </a:pPr>
            <a:r>
              <a:rPr lang="en-IN" sz="2400" b="1" dirty="0"/>
              <a:t>Business Key Insights</a:t>
            </a:r>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Recommendations</a:t>
            </a:r>
          </a:p>
          <a:p>
            <a:pPr marL="457200" lvl="0" indent="-431800" algn="l" rtl="0">
              <a:lnSpc>
                <a:spcPct val="90000"/>
              </a:lnSpc>
              <a:spcBef>
                <a:spcPts val="1000"/>
              </a:spcBef>
              <a:spcAft>
                <a:spcPts val="0"/>
              </a:spcAft>
              <a:buSzPts val="2400"/>
              <a:buChar char="•"/>
            </a:pPr>
            <a:r>
              <a:rPr lang="en-IN" sz="2400" b="1" dirty="0"/>
              <a:t>Q &amp; 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754DDBE-F663-5BD5-09C5-DF01EE31E08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1847921-FCD0-96AA-48E3-9FDBB44B16E7}"/>
              </a:ext>
            </a:extLst>
          </p:cNvPr>
          <p:cNvSpPr txBox="1">
            <a:spLocks noGrp="1"/>
          </p:cNvSpPr>
          <p:nvPr>
            <p:ph type="title"/>
          </p:nvPr>
        </p:nvSpPr>
        <p:spPr>
          <a:xfrm>
            <a:off x="390525" y="180340"/>
            <a:ext cx="10333355" cy="9588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sz="4000" b="1" dirty="0">
                <a:solidFill>
                  <a:srgbClr val="FF0000"/>
                </a:solidFill>
                <a:latin typeface="Arial" panose="020B0604020202020204" pitchFamily="34" charset="0"/>
                <a:cs typeface="Arial" panose="020B0604020202020204" pitchFamily="34" charset="0"/>
              </a:rPr>
              <a:t>Tools Used </a:t>
            </a:r>
          </a:p>
        </p:txBody>
      </p:sp>
      <p:sp>
        <p:nvSpPr>
          <p:cNvPr id="111" name="Google Shape;111;p4">
            <a:extLst>
              <a:ext uri="{FF2B5EF4-FFF2-40B4-BE49-F238E27FC236}">
                <a16:creationId xmlns:a16="http://schemas.microsoft.com/office/drawing/2014/main" id="{209F8AA3-9F8F-8B39-B303-4F6E7748E58F}"/>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Synthetic Data Generation and Data Transformation: </a:t>
            </a:r>
            <a:r>
              <a:rPr lang="en-IN" sz="2400" dirty="0"/>
              <a:t>Advanced Excel using ChatGPT.</a:t>
            </a:r>
          </a:p>
          <a:p>
            <a:pPr marL="457200" lvl="0" indent="-431800" algn="l" rtl="0">
              <a:lnSpc>
                <a:spcPct val="90000"/>
              </a:lnSpc>
              <a:spcBef>
                <a:spcPts val="1000"/>
              </a:spcBef>
              <a:spcAft>
                <a:spcPts val="0"/>
              </a:spcAft>
              <a:buSzPts val="2400"/>
              <a:buChar char="•"/>
            </a:pPr>
            <a:r>
              <a:rPr lang="en-IN" sz="2400" b="1" dirty="0"/>
              <a:t>Database Management:</a:t>
            </a:r>
            <a:r>
              <a:rPr lang="en-IN" sz="2400" dirty="0"/>
              <a:t> SQL</a:t>
            </a:r>
          </a:p>
          <a:p>
            <a:pPr marL="457200" lvl="0" indent="-431800" algn="l" rtl="0">
              <a:lnSpc>
                <a:spcPct val="90000"/>
              </a:lnSpc>
              <a:spcBef>
                <a:spcPts val="1000"/>
              </a:spcBef>
              <a:spcAft>
                <a:spcPts val="0"/>
              </a:spcAft>
              <a:buSzPts val="2400"/>
              <a:buChar char="•"/>
            </a:pPr>
            <a:r>
              <a:rPr lang="en-IN" sz="2400" b="1" dirty="0"/>
              <a:t>Queries:</a:t>
            </a:r>
            <a:r>
              <a:rPr lang="en-IN" sz="2400" dirty="0"/>
              <a:t> MySQL, </a:t>
            </a:r>
            <a:r>
              <a:rPr lang="en-IN" sz="2400" dirty="0" err="1"/>
              <a:t>Jupyter</a:t>
            </a:r>
            <a:r>
              <a:rPr lang="en-IN" sz="2400" dirty="0"/>
              <a:t> Notebook (MySQL Connector) </a:t>
            </a:r>
          </a:p>
          <a:p>
            <a:pPr indent="-431800">
              <a:buSzPts val="2400"/>
            </a:pPr>
            <a:r>
              <a:rPr lang="en-IN" sz="2400" b="1" dirty="0"/>
              <a:t>Dashboarding:</a:t>
            </a:r>
            <a:r>
              <a:rPr lang="en-IN" sz="2400" dirty="0"/>
              <a:t> MS Excel, Power BI</a:t>
            </a:r>
          </a:p>
          <a:p>
            <a:pPr indent="-431800">
              <a:buSzPts val="2400"/>
            </a:pPr>
            <a:endParaRPr lang="en-IN" sz="2400" dirty="0"/>
          </a:p>
          <a:p>
            <a:pPr marL="457200" lvl="0" indent="-431800" algn="l" rtl="0">
              <a:lnSpc>
                <a:spcPct val="90000"/>
              </a:lnSpc>
              <a:spcBef>
                <a:spcPts val="1000"/>
              </a:spcBef>
              <a:spcAft>
                <a:spcPts val="0"/>
              </a:spcAft>
              <a:buSzPts val="2400"/>
              <a:buChar char="•"/>
            </a:pPr>
            <a:endParaRPr lang="en-IN" sz="2400" dirty="0"/>
          </a:p>
        </p:txBody>
      </p:sp>
    </p:spTree>
    <p:extLst>
      <p:ext uri="{BB962C8B-B14F-4D97-AF65-F5344CB8AC3E}">
        <p14:creationId xmlns:p14="http://schemas.microsoft.com/office/powerpoint/2010/main" val="3489532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195" y="577215"/>
            <a:ext cx="10301605" cy="746125"/>
          </a:xfrm>
        </p:spPr>
        <p:txBody>
          <a:bodyPr>
            <a:normAutofit/>
          </a:bodyPr>
          <a:lstStyle/>
          <a:p>
            <a:r>
              <a:rPr lang="en-IN" altLang="en-US" sz="4000" b="1">
                <a:solidFill>
                  <a:srgbClr val="FF0000"/>
                </a:solidFill>
                <a:latin typeface="Arial" panose="020B0604020202020204" pitchFamily="34" charset="0"/>
                <a:cs typeface="Arial" panose="020B0604020202020204" pitchFamily="34" charset="0"/>
              </a:rPr>
              <a:t>Business Problem</a:t>
            </a:r>
          </a:p>
        </p:txBody>
      </p:sp>
      <p:sp>
        <p:nvSpPr>
          <p:cNvPr id="3" name="Text Placeholder 2"/>
          <p:cNvSpPr>
            <a:spLocks noGrp="1"/>
          </p:cNvSpPr>
          <p:nvPr>
            <p:ph type="body" idx="1"/>
          </p:nvPr>
        </p:nvSpPr>
        <p:spPr>
          <a:xfrm>
            <a:off x="838200" y="1678305"/>
            <a:ext cx="10515600" cy="3936432"/>
          </a:xfrm>
        </p:spPr>
        <p:txBody>
          <a:bodyPr>
            <a:noAutofit/>
          </a:bodyPr>
          <a:lstStyle/>
          <a:p>
            <a:pPr>
              <a:lnSpc>
                <a:spcPct val="170000"/>
              </a:lnSpc>
            </a:pPr>
            <a:r>
              <a:rPr lang="en-US" sz="1400" dirty="0">
                <a:latin typeface="Lucida Fax" panose="02060602050505020204" pitchFamily="18" charset="0"/>
              </a:rPr>
              <a:t>A Tournament involves hundreds of players participating across multiple matches and innings.  Coaches, selectors, analysts, and team management require an objective, data-driven approach to  evaluate player performance instead of relying solely on total runs or Wickets. Traditional scorecards provide match-wise statistics but do not answer strategic questions such as :</a:t>
            </a:r>
          </a:p>
          <a:p>
            <a:pPr>
              <a:lnSpc>
                <a:spcPct val="170000"/>
              </a:lnSpc>
            </a:pPr>
            <a:r>
              <a:rPr lang="en-US" sz="1400" dirty="0">
                <a:latin typeface="Lucida Fax" panose="02060602050505020204" pitchFamily="18" charset="0"/>
              </a:rPr>
              <a:t>Who are the most consistent performers and Which young players have the highest growth potential ?        Which bowlers perform well in pressure situations and Which batters contribute most to winning matches ? Which players are underperforming despite getting opportunities ? </a:t>
            </a:r>
          </a:p>
          <a:p>
            <a:pPr>
              <a:lnSpc>
                <a:spcPct val="170000"/>
              </a:lnSpc>
            </a:pPr>
            <a:r>
              <a:rPr lang="en-US" sz="1400" dirty="0">
                <a:latin typeface="Lucida Fax" panose="02060602050505020204" pitchFamily="18" charset="0"/>
              </a:rPr>
              <a:t>A centralized analytics dashboard is required to transform raw scorecard data into actionable insights for player selection and performance evaluation.</a:t>
            </a:r>
          </a:p>
          <a:p>
            <a:pPr>
              <a:lnSpc>
                <a:spcPct val="170000"/>
              </a:lnSpc>
            </a:pPr>
            <a:r>
              <a:rPr lang="en-US" sz="1400" b="1" dirty="0">
                <a:latin typeface="Lucida Fax" panose="02060602050505020204" pitchFamily="18" charset="0"/>
              </a:rPr>
              <a:t>Note: The data taken is synthetic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4415" y="365125"/>
            <a:ext cx="10319385" cy="965200"/>
          </a:xfrm>
        </p:spPr>
        <p:txBody>
          <a:bodyPr/>
          <a:lstStyle/>
          <a:p>
            <a:r>
              <a:rPr lang="en-IN" altLang="en-US" sz="4000" b="1">
                <a:solidFill>
                  <a:srgbClr val="FF0000"/>
                </a:solidFill>
                <a:latin typeface="Arial" panose="020B0604020202020204" pitchFamily="34" charset="0"/>
                <a:cs typeface="Arial" panose="020B0604020202020204" pitchFamily="34" charset="0"/>
              </a:rPr>
              <a:t>Problem Statement</a:t>
            </a:r>
          </a:p>
        </p:txBody>
      </p:sp>
      <p:sp>
        <p:nvSpPr>
          <p:cNvPr id="3" name="Text Placeholder 2"/>
          <p:cNvSpPr>
            <a:spLocks noGrp="1"/>
          </p:cNvSpPr>
          <p:nvPr>
            <p:ph type="body" idx="1"/>
          </p:nvPr>
        </p:nvSpPr>
        <p:spPr>
          <a:xfrm>
            <a:off x="838200" y="1732915"/>
            <a:ext cx="10515600" cy="4444365"/>
          </a:xfrm>
        </p:spPr>
        <p:txBody>
          <a:bodyPr>
            <a:normAutofit/>
          </a:bodyPr>
          <a:lstStyle/>
          <a:p>
            <a:pPr algn="just">
              <a:lnSpc>
                <a:spcPct val="150000"/>
              </a:lnSpc>
            </a:pPr>
            <a:r>
              <a:rPr lang="en-US" sz="2000" dirty="0">
                <a:latin typeface="Lucida Fax" panose="02060602050505020204" pitchFamily="18" charset="0"/>
              </a:rPr>
              <a:t>Develop an end-to-end analytics solution using SQL and Power BI to analyze batting and bowling performances across the Tournament 2025–26 season. The solution should identify :</a:t>
            </a:r>
          </a:p>
          <a:p>
            <a:pPr algn="just">
              <a:lnSpc>
                <a:spcPct val="150000"/>
              </a:lnSpc>
            </a:pPr>
            <a:r>
              <a:rPr lang="en-US" sz="2000" dirty="0">
                <a:latin typeface="Lucida Fax" panose="02060602050505020204" pitchFamily="18" charset="0"/>
              </a:rPr>
              <a:t>Top-performing batters and bowlers, Consistent performers, Emerging future stars Match-winning contributors, Team-wise strengths and weaknesses, The system should enable selectors and analysts to make data-driven decisions rather than subjective judgments.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6475" y="365125"/>
            <a:ext cx="10347325" cy="587375"/>
          </a:xfrm>
        </p:spPr>
        <p:txBody>
          <a:bodyPr>
            <a:normAutofit fontScale="90000"/>
          </a:bodyPr>
          <a:lstStyle/>
          <a:p>
            <a:r>
              <a:rPr lang="en-IN" altLang="en-US" sz="4445" b="1" dirty="0">
                <a:solidFill>
                  <a:srgbClr val="FF0000"/>
                </a:solidFill>
                <a:latin typeface="Arial" panose="020B0604020202020204" pitchFamily="34" charset="0"/>
                <a:cs typeface="Arial" panose="020B0604020202020204" pitchFamily="34" charset="0"/>
              </a:rPr>
              <a:t>Objective of Project</a:t>
            </a:r>
          </a:p>
        </p:txBody>
      </p:sp>
      <p:sp>
        <p:nvSpPr>
          <p:cNvPr id="3" name="Text Placeholder 2"/>
          <p:cNvSpPr>
            <a:spLocks noGrp="1"/>
          </p:cNvSpPr>
          <p:nvPr>
            <p:ph type="body" idx="1"/>
          </p:nvPr>
        </p:nvSpPr>
        <p:spPr>
          <a:xfrm>
            <a:off x="572729" y="952500"/>
            <a:ext cx="10515600" cy="5598795"/>
          </a:xfrm>
        </p:spPr>
        <p:txBody>
          <a:bodyPr>
            <a:noAutofit/>
          </a:bodyPr>
          <a:lstStyle/>
          <a:p>
            <a:pPr>
              <a:lnSpc>
                <a:spcPct val="150000"/>
              </a:lnSpc>
            </a:pPr>
            <a:r>
              <a:rPr lang="en-US" sz="1800" dirty="0">
                <a:latin typeface="Lucida Fax" panose="02060602050505020204" pitchFamily="18" charset="0"/>
              </a:rPr>
              <a:t>Build a structured cricket analytics database.</a:t>
            </a:r>
          </a:p>
          <a:p>
            <a:pPr>
              <a:lnSpc>
                <a:spcPct val="150000"/>
              </a:lnSpc>
            </a:pPr>
            <a:r>
              <a:rPr lang="en-US" sz="1800" dirty="0">
                <a:latin typeface="Lucida Fax" panose="02060602050505020204" pitchFamily="18" charset="0"/>
              </a:rPr>
              <a:t>Analyze batting and bowling performances across all matches.</a:t>
            </a:r>
          </a:p>
          <a:p>
            <a:pPr>
              <a:lnSpc>
                <a:spcPct val="150000"/>
              </a:lnSpc>
            </a:pPr>
            <a:r>
              <a:rPr lang="en-US" sz="1800" dirty="0">
                <a:latin typeface="Lucida Fax" panose="02060602050505020204" pitchFamily="18" charset="0"/>
              </a:rPr>
              <a:t>Identify the best batter and best bowler.</a:t>
            </a:r>
          </a:p>
          <a:p>
            <a:pPr>
              <a:lnSpc>
                <a:spcPct val="150000"/>
              </a:lnSpc>
            </a:pPr>
            <a:r>
              <a:rPr lang="en-US" sz="1800" dirty="0">
                <a:latin typeface="Lucida Fax" panose="02060602050505020204" pitchFamily="18" charset="0"/>
              </a:rPr>
              <a:t>Detect consistent performers.</a:t>
            </a:r>
          </a:p>
          <a:p>
            <a:pPr>
              <a:lnSpc>
                <a:spcPct val="150000"/>
              </a:lnSpc>
            </a:pPr>
            <a:r>
              <a:rPr lang="en-US" sz="1800" dirty="0">
                <a:latin typeface="Lucida Fax" panose="02060602050505020204" pitchFamily="18" charset="0"/>
              </a:rPr>
              <a:t>Identify future star players. </a:t>
            </a:r>
          </a:p>
          <a:p>
            <a:pPr>
              <a:lnSpc>
                <a:spcPct val="150000"/>
              </a:lnSpc>
            </a:pPr>
            <a:r>
              <a:rPr lang="en-US" sz="1800" dirty="0">
                <a:latin typeface="Lucida Fax" panose="02060602050505020204" pitchFamily="18" charset="0"/>
              </a:rPr>
              <a:t>Compare team performances.</a:t>
            </a:r>
          </a:p>
          <a:p>
            <a:pPr>
              <a:lnSpc>
                <a:spcPct val="150000"/>
              </a:lnSpc>
            </a:pPr>
            <a:r>
              <a:rPr lang="en-US" sz="1800" dirty="0">
                <a:latin typeface="Lucida Fax" panose="02060602050505020204" pitchFamily="18" charset="0"/>
              </a:rPr>
              <a:t>Create interactive Power BI dashboards.</a:t>
            </a:r>
          </a:p>
          <a:p>
            <a:pPr>
              <a:lnSpc>
                <a:spcPct val="150000"/>
              </a:lnSpc>
            </a:pPr>
            <a:r>
              <a:rPr lang="en-US" sz="1800" dirty="0">
                <a:latin typeface="Lucida Fax" panose="02060602050505020204" pitchFamily="18" charset="0"/>
              </a:rPr>
              <a:t>Enable player comparison. </a:t>
            </a:r>
          </a:p>
          <a:p>
            <a:pPr>
              <a:lnSpc>
                <a:spcPct val="150000"/>
              </a:lnSpc>
            </a:pPr>
            <a:r>
              <a:rPr lang="en-US" sz="1800" dirty="0">
                <a:latin typeface="Lucida Fax" panose="02060602050505020204" pitchFamily="18" charset="0"/>
              </a:rPr>
              <a:t>Discover hidden performance patterns.</a:t>
            </a:r>
          </a:p>
          <a:p>
            <a:pPr>
              <a:lnSpc>
                <a:spcPct val="150000"/>
              </a:lnSpc>
            </a:pPr>
            <a:r>
              <a:rPr lang="en-US" sz="1800" dirty="0">
                <a:latin typeface="Lucida Fax" panose="02060602050505020204" pitchFamily="18" charset="0"/>
              </a:rPr>
              <a:t>Provide insights for team selection.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8140" y="365125"/>
            <a:ext cx="9725660" cy="678180"/>
          </a:xfrm>
        </p:spPr>
        <p:txBody>
          <a:bodyPr>
            <a:normAutofit fontScale="90000"/>
          </a:bodyPr>
          <a:lstStyle/>
          <a:p>
            <a:r>
              <a:rPr lang="en-IN" b="1" dirty="0">
                <a:solidFill>
                  <a:srgbClr val="FF0000"/>
                </a:solidFill>
                <a:latin typeface="Arial" panose="020B0604020202020204" pitchFamily="34" charset="0"/>
                <a:cs typeface="Arial" panose="020B0604020202020204" pitchFamily="34" charset="0"/>
                <a:sym typeface="+mn-ea"/>
              </a:rPr>
              <a:t>ER Diagram and Schema Explanation</a:t>
            </a:r>
            <a:endParaRPr lang="en-US" dirty="0">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2205B602-78BF-52E9-625D-9AF171D5ACA1}"/>
              </a:ext>
            </a:extLst>
          </p:cNvPr>
          <p:cNvGraphicFramePr>
            <a:graphicFrameLocks noGrp="1"/>
          </p:cNvGraphicFramePr>
          <p:nvPr>
            <p:extLst>
              <p:ext uri="{D42A27DB-BD31-4B8C-83A1-F6EECF244321}">
                <p14:modId xmlns:p14="http://schemas.microsoft.com/office/powerpoint/2010/main" val="2807372368"/>
              </p:ext>
            </p:extLst>
          </p:nvPr>
        </p:nvGraphicFramePr>
        <p:xfrm>
          <a:off x="6253318" y="1407099"/>
          <a:ext cx="5763675" cy="3270494"/>
        </p:xfrm>
        <a:graphic>
          <a:graphicData uri="http://schemas.openxmlformats.org/drawingml/2006/table">
            <a:tbl>
              <a:tblPr>
                <a:tableStyleId>{35758FB7-9AC5-4552-8A53-C91805E547FA}</a:tableStyleId>
              </a:tblPr>
              <a:tblGrid>
                <a:gridCol w="1921225">
                  <a:extLst>
                    <a:ext uri="{9D8B030D-6E8A-4147-A177-3AD203B41FA5}">
                      <a16:colId xmlns:a16="http://schemas.microsoft.com/office/drawing/2014/main" val="2438390896"/>
                    </a:ext>
                  </a:extLst>
                </a:gridCol>
                <a:gridCol w="1921225">
                  <a:extLst>
                    <a:ext uri="{9D8B030D-6E8A-4147-A177-3AD203B41FA5}">
                      <a16:colId xmlns:a16="http://schemas.microsoft.com/office/drawing/2014/main" val="352709927"/>
                    </a:ext>
                  </a:extLst>
                </a:gridCol>
                <a:gridCol w="1921225">
                  <a:extLst>
                    <a:ext uri="{9D8B030D-6E8A-4147-A177-3AD203B41FA5}">
                      <a16:colId xmlns:a16="http://schemas.microsoft.com/office/drawing/2014/main" val="2977378948"/>
                    </a:ext>
                  </a:extLst>
                </a:gridCol>
              </a:tblGrid>
              <a:tr h="470862">
                <a:tc>
                  <a:txBody>
                    <a:bodyPr/>
                    <a:lstStyle/>
                    <a:p>
                      <a:pPr>
                        <a:buNone/>
                      </a:pPr>
                      <a:r>
                        <a:rPr lang="en-IN" sz="1600" dirty="0">
                          <a:latin typeface="Calibri" panose="020F0502020204030204" pitchFamily="34" charset="0"/>
                          <a:cs typeface="Calibri" panose="020F0502020204030204" pitchFamily="34" charset="0"/>
                        </a:rPr>
                        <a:t>Parent Table</a:t>
                      </a:r>
                    </a:p>
                  </a:txBody>
                  <a:tcPr anchor="ctr"/>
                </a:tc>
                <a:tc>
                  <a:txBody>
                    <a:bodyPr/>
                    <a:lstStyle/>
                    <a:p>
                      <a:pPr>
                        <a:buNone/>
                      </a:pPr>
                      <a:r>
                        <a:rPr lang="en-IN" sz="1600">
                          <a:latin typeface="Calibri" panose="020F0502020204030204" pitchFamily="34" charset="0"/>
                          <a:cs typeface="Calibri" panose="020F0502020204030204" pitchFamily="34" charset="0"/>
                        </a:rPr>
                        <a:t>Child Table</a:t>
                      </a:r>
                    </a:p>
                  </a:txBody>
                  <a:tcPr anchor="ctr"/>
                </a:tc>
                <a:tc>
                  <a:txBody>
                    <a:bodyPr/>
                    <a:lstStyle/>
                    <a:p>
                      <a:pPr>
                        <a:buNone/>
                      </a:pPr>
                      <a:r>
                        <a:rPr lang="en-IN" sz="1600">
                          <a:latin typeface="Calibri" panose="020F0502020204030204" pitchFamily="34" charset="0"/>
                          <a:cs typeface="Calibri" panose="020F0502020204030204" pitchFamily="34" charset="0"/>
                        </a:rPr>
                        <a:t>Cardinality</a:t>
                      </a:r>
                    </a:p>
                  </a:txBody>
                  <a:tcPr anchor="ctr"/>
                </a:tc>
                <a:extLst>
                  <a:ext uri="{0D108BD9-81ED-4DB2-BD59-A6C34878D82A}">
                    <a16:rowId xmlns:a16="http://schemas.microsoft.com/office/drawing/2014/main" val="2157794737"/>
                  </a:ext>
                </a:extLst>
              </a:tr>
              <a:tr h="442452">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Emissions</a:t>
                      </a:r>
                    </a:p>
                  </a:txBody>
                  <a:tcPr anchor="ctr"/>
                </a:tc>
                <a:tc>
                  <a:txBody>
                    <a:bodyPr/>
                    <a:lstStyle/>
                    <a:p>
                      <a:pPr>
                        <a:buNone/>
                      </a:pPr>
                      <a:r>
                        <a:rPr lang="en-IN" sz="1600" b="1">
                          <a:latin typeface="Calibri" panose="020F0502020204030204" pitchFamily="34" charset="0"/>
                          <a:cs typeface="Calibri" panose="020F0502020204030204" pitchFamily="34" charset="0"/>
                        </a:rPr>
                        <a:t>1 : Many (1:N)</a:t>
                      </a:r>
                      <a:endParaRPr lang="en-IN" sz="160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893284857"/>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Production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770217253"/>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Consumption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439855478"/>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IN" sz="1600" dirty="0">
                          <a:latin typeface="Calibri" panose="020F0502020204030204" pitchFamily="34" charset="0"/>
                          <a:cs typeface="Calibri" panose="020F0502020204030204" pitchFamily="34" charset="0"/>
                        </a:rPr>
                        <a:t>Population</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833997338"/>
                  </a:ext>
                </a:extLst>
              </a:tr>
              <a:tr h="589295">
                <a:tc>
                  <a:txBody>
                    <a:bodyPr/>
                    <a:lstStyle/>
                    <a:p>
                      <a:pPr>
                        <a:buNone/>
                      </a:pPr>
                      <a:r>
                        <a:rPr lang="en-IN" sz="1600" dirty="0">
                          <a:latin typeface="Calibri" panose="020F0502020204030204" pitchFamily="34" charset="0"/>
                          <a:cs typeface="Calibri" panose="020F0502020204030204" pitchFamily="34" charset="0"/>
                        </a:rPr>
                        <a:t>Country</a:t>
                      </a:r>
                    </a:p>
                  </a:txBody>
                  <a:tcPr anchor="ctr"/>
                </a:tc>
                <a:tc>
                  <a:txBody>
                    <a:bodyPr/>
                    <a:lstStyle/>
                    <a:p>
                      <a:pPr>
                        <a:buNone/>
                      </a:pPr>
                      <a:r>
                        <a:rPr lang="en-US" sz="1600" dirty="0">
                          <a:latin typeface="Calibri" panose="020F0502020204030204" pitchFamily="34" charset="0"/>
                          <a:cs typeface="Calibri" panose="020F0502020204030204" pitchFamily="34" charset="0"/>
                        </a:rPr>
                        <a:t>G</a:t>
                      </a:r>
                      <a:r>
                        <a:rPr lang="en-IN" sz="1600" dirty="0">
                          <a:latin typeface="Calibri" panose="020F0502020204030204" pitchFamily="34" charset="0"/>
                          <a:cs typeface="Calibri" panose="020F0502020204030204" pitchFamily="34" charset="0"/>
                        </a:rPr>
                        <a:t>DP</a:t>
                      </a:r>
                    </a:p>
                  </a:txBody>
                  <a:tcPr anchor="ctr"/>
                </a:tc>
                <a:tc>
                  <a:txBody>
                    <a:bodyPr/>
                    <a:lstStyle/>
                    <a:p>
                      <a:pPr>
                        <a:buNone/>
                      </a:pPr>
                      <a:r>
                        <a:rPr lang="en-IN" sz="1600" b="1" dirty="0">
                          <a:latin typeface="Calibri" panose="020F0502020204030204" pitchFamily="34" charset="0"/>
                          <a:cs typeface="Calibri" panose="020F0502020204030204" pitchFamily="34" charset="0"/>
                        </a:rPr>
                        <a:t>1 : Many (1:N)</a:t>
                      </a:r>
                      <a:endParaRPr lang="en-IN" sz="16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87146762"/>
                  </a:ext>
                </a:extLst>
              </a:tr>
            </a:tbl>
          </a:graphicData>
        </a:graphic>
      </p:graphicFrame>
      <p:pic>
        <p:nvPicPr>
          <p:cNvPr id="4" name="Picture 3">
            <a:extLst>
              <a:ext uri="{FF2B5EF4-FFF2-40B4-BE49-F238E27FC236}">
                <a16:creationId xmlns:a16="http://schemas.microsoft.com/office/drawing/2014/main" id="{4EFE46E8-7081-AECB-B863-C3AA5931AF0E}"/>
              </a:ext>
            </a:extLst>
          </p:cNvPr>
          <p:cNvPicPr>
            <a:picLocks noChangeAspect="1"/>
          </p:cNvPicPr>
          <p:nvPr/>
        </p:nvPicPr>
        <p:blipFill>
          <a:blip r:embed="rId3"/>
          <a:stretch>
            <a:fillRect/>
          </a:stretch>
        </p:blipFill>
        <p:spPr>
          <a:xfrm>
            <a:off x="175007" y="1043305"/>
            <a:ext cx="5763675" cy="51542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8330"/>
          </a:xfrm>
        </p:spPr>
        <p:txBody>
          <a:bodyPr>
            <a:normAutofit fontScale="90000"/>
          </a:bodyPr>
          <a:lstStyle/>
          <a:p>
            <a:r>
              <a:rPr lang="en-IN" b="1" dirty="0">
                <a:solidFill>
                  <a:srgbClr val="FF0000"/>
                </a:solidFill>
                <a:latin typeface="Arial" panose="020B0604020202020204" pitchFamily="34" charset="0"/>
                <a:cs typeface="Arial" panose="020B0604020202020204" pitchFamily="34" charset="0"/>
                <a:sym typeface="+mn-ea"/>
              </a:rPr>
              <a:t>SQL Queries Results</a:t>
            </a:r>
          </a:p>
        </p:txBody>
      </p:sp>
      <p:sp>
        <p:nvSpPr>
          <p:cNvPr id="3" name="TextBox 2">
            <a:extLst>
              <a:ext uri="{FF2B5EF4-FFF2-40B4-BE49-F238E27FC236}">
                <a16:creationId xmlns:a16="http://schemas.microsoft.com/office/drawing/2014/main" id="{D4A6FDC3-E3F0-59E2-3FF9-10D2FE31BBEB}"/>
              </a:ext>
            </a:extLst>
          </p:cNvPr>
          <p:cNvSpPr txBox="1"/>
          <p:nvPr/>
        </p:nvSpPr>
        <p:spPr>
          <a:xfrm>
            <a:off x="838199" y="1258528"/>
            <a:ext cx="9605211" cy="400110"/>
          </a:xfrm>
          <a:prstGeom prst="rect">
            <a:avLst/>
          </a:prstGeom>
          <a:noFill/>
        </p:spPr>
        <p:txBody>
          <a:bodyPr wrap="square" rtlCol="0">
            <a:spAutoFit/>
          </a:bodyPr>
          <a:lstStyle/>
          <a:p>
            <a:r>
              <a:rPr lang="en-US" sz="2000" b="1" dirty="0">
                <a:latin typeface="Lucida Fax" panose="02060602050505020204" pitchFamily="18" charset="0"/>
              </a:rPr>
              <a:t>01. Top 10 Total Runs by player</a:t>
            </a:r>
            <a:endParaRPr lang="en-IN" sz="2000" b="1" u="sng" dirty="0">
              <a:latin typeface="Lucida Fax" panose="02060602050505020204" pitchFamily="18" charset="0"/>
            </a:endParaRPr>
          </a:p>
        </p:txBody>
      </p:sp>
      <p:pic>
        <p:nvPicPr>
          <p:cNvPr id="5" name="Picture 4">
            <a:extLst>
              <a:ext uri="{FF2B5EF4-FFF2-40B4-BE49-F238E27FC236}">
                <a16:creationId xmlns:a16="http://schemas.microsoft.com/office/drawing/2014/main" id="{3C62D178-06F2-5D99-4D11-FB5E267DA3AD}"/>
              </a:ext>
            </a:extLst>
          </p:cNvPr>
          <p:cNvPicPr>
            <a:picLocks noChangeAspect="1"/>
          </p:cNvPicPr>
          <p:nvPr/>
        </p:nvPicPr>
        <p:blipFill>
          <a:blip r:embed="rId2"/>
          <a:stretch>
            <a:fillRect/>
          </a:stretch>
        </p:blipFill>
        <p:spPr>
          <a:xfrm>
            <a:off x="838199" y="1943710"/>
            <a:ext cx="4761591" cy="3197249"/>
          </a:xfrm>
          <a:prstGeom prst="rect">
            <a:avLst/>
          </a:prstGeom>
        </p:spPr>
      </p:pic>
      <p:pic>
        <p:nvPicPr>
          <p:cNvPr id="8" name="Picture 7">
            <a:extLst>
              <a:ext uri="{FF2B5EF4-FFF2-40B4-BE49-F238E27FC236}">
                <a16:creationId xmlns:a16="http://schemas.microsoft.com/office/drawing/2014/main" id="{C50AE01E-18B0-3F22-105E-7542048F6869}"/>
              </a:ext>
            </a:extLst>
          </p:cNvPr>
          <p:cNvPicPr>
            <a:picLocks noChangeAspect="1"/>
          </p:cNvPicPr>
          <p:nvPr/>
        </p:nvPicPr>
        <p:blipFill>
          <a:blip r:embed="rId3"/>
          <a:stretch>
            <a:fillRect/>
          </a:stretch>
        </p:blipFill>
        <p:spPr>
          <a:xfrm>
            <a:off x="6214844" y="1943709"/>
            <a:ext cx="4437916" cy="3197249"/>
          </a:xfrm>
          <a:prstGeom prst="rect">
            <a:avLst/>
          </a:prstGeom>
        </p:spPr>
      </p:pic>
      <p:sp>
        <p:nvSpPr>
          <p:cNvPr id="11" name="TextBox 10">
            <a:extLst>
              <a:ext uri="{FF2B5EF4-FFF2-40B4-BE49-F238E27FC236}">
                <a16:creationId xmlns:a16="http://schemas.microsoft.com/office/drawing/2014/main" id="{B5EF780D-D679-AB7F-23C5-CB2C34CB2B67}"/>
              </a:ext>
            </a:extLst>
          </p:cNvPr>
          <p:cNvSpPr txBox="1"/>
          <p:nvPr/>
        </p:nvSpPr>
        <p:spPr>
          <a:xfrm>
            <a:off x="839831" y="5449630"/>
            <a:ext cx="9936480" cy="307777"/>
          </a:xfrm>
          <a:prstGeom prst="rect">
            <a:avLst/>
          </a:prstGeom>
          <a:noFill/>
        </p:spPr>
        <p:txBody>
          <a:bodyPr wrap="square" rtlCol="0">
            <a:spAutoFit/>
          </a:bodyPr>
          <a:lstStyle/>
          <a:p>
            <a:r>
              <a:rPr lang="en-US" b="1" dirty="0"/>
              <a:t>Pranav from Tamil Nadu is the top scorer of the tournament with 959 runs followed by Arjun from Goa team. </a:t>
            </a:r>
            <a:endParaRPr lang="en-IN" b="1" dirty="0"/>
          </a:p>
        </p:txBody>
      </p:sp>
    </p:spTree>
    <p:extLst>
      <p:ext uri="{BB962C8B-B14F-4D97-AF65-F5344CB8AC3E}">
        <p14:creationId xmlns:p14="http://schemas.microsoft.com/office/powerpoint/2010/main" val="2496604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A8B6655-ED38-034B-065F-9523B691FA07}"/>
              </a:ext>
            </a:extLst>
          </p:cNvPr>
          <p:cNvSpPr txBox="1"/>
          <p:nvPr/>
        </p:nvSpPr>
        <p:spPr>
          <a:xfrm>
            <a:off x="857865" y="393290"/>
            <a:ext cx="8815524" cy="400110"/>
          </a:xfrm>
          <a:prstGeom prst="rect">
            <a:avLst/>
          </a:prstGeom>
          <a:noFill/>
        </p:spPr>
        <p:txBody>
          <a:bodyPr wrap="square" rtlCol="0">
            <a:spAutoFit/>
          </a:bodyPr>
          <a:lstStyle/>
          <a:p>
            <a:r>
              <a:rPr lang="en-IN" sz="2000" b="1" dirty="0">
                <a:latin typeface="Lucida Fax" panose="02060602050505020204" pitchFamily="18" charset="0"/>
              </a:rPr>
              <a:t>02. </a:t>
            </a:r>
            <a:r>
              <a:rPr lang="en-US" sz="2000" b="1" dirty="0">
                <a:latin typeface="Lucida Fax" panose="02060602050505020204" pitchFamily="18" charset="0"/>
              </a:rPr>
              <a:t>Top 10 Wicket Takers</a:t>
            </a:r>
            <a:endParaRPr lang="en-IN" sz="2000" b="1" dirty="0">
              <a:latin typeface="Lucida Fax" panose="02060602050505020204" pitchFamily="18" charset="0"/>
            </a:endParaRPr>
          </a:p>
        </p:txBody>
      </p:sp>
      <p:pic>
        <p:nvPicPr>
          <p:cNvPr id="3" name="Picture 2">
            <a:extLst>
              <a:ext uri="{FF2B5EF4-FFF2-40B4-BE49-F238E27FC236}">
                <a16:creationId xmlns:a16="http://schemas.microsoft.com/office/drawing/2014/main" id="{287602EB-6C6F-E7D8-D735-C433359BE368}"/>
              </a:ext>
            </a:extLst>
          </p:cNvPr>
          <p:cNvPicPr>
            <a:picLocks noChangeAspect="1"/>
          </p:cNvPicPr>
          <p:nvPr/>
        </p:nvPicPr>
        <p:blipFill>
          <a:blip r:embed="rId2"/>
          <a:stretch>
            <a:fillRect/>
          </a:stretch>
        </p:blipFill>
        <p:spPr>
          <a:xfrm>
            <a:off x="284163" y="1171575"/>
            <a:ext cx="5202237" cy="3958042"/>
          </a:xfrm>
          <a:prstGeom prst="rect">
            <a:avLst/>
          </a:prstGeom>
        </p:spPr>
      </p:pic>
      <p:pic>
        <p:nvPicPr>
          <p:cNvPr id="5" name="Picture 4">
            <a:extLst>
              <a:ext uri="{FF2B5EF4-FFF2-40B4-BE49-F238E27FC236}">
                <a16:creationId xmlns:a16="http://schemas.microsoft.com/office/drawing/2014/main" id="{F9090337-7C8B-D9C7-6C6F-CD8D638E8DBC}"/>
              </a:ext>
            </a:extLst>
          </p:cNvPr>
          <p:cNvPicPr>
            <a:picLocks noChangeAspect="1"/>
          </p:cNvPicPr>
          <p:nvPr/>
        </p:nvPicPr>
        <p:blipFill>
          <a:blip r:embed="rId3"/>
          <a:stretch>
            <a:fillRect/>
          </a:stretch>
        </p:blipFill>
        <p:spPr>
          <a:xfrm>
            <a:off x="5991542" y="1171574"/>
            <a:ext cx="5423425" cy="3958043"/>
          </a:xfrm>
          <a:prstGeom prst="rect">
            <a:avLst/>
          </a:prstGeom>
        </p:spPr>
      </p:pic>
      <p:sp>
        <p:nvSpPr>
          <p:cNvPr id="6" name="TextBox 5">
            <a:extLst>
              <a:ext uri="{FF2B5EF4-FFF2-40B4-BE49-F238E27FC236}">
                <a16:creationId xmlns:a16="http://schemas.microsoft.com/office/drawing/2014/main" id="{67936D61-2888-EB2E-D4F0-1FC383D5079D}"/>
              </a:ext>
            </a:extLst>
          </p:cNvPr>
          <p:cNvSpPr txBox="1"/>
          <p:nvPr/>
        </p:nvSpPr>
        <p:spPr>
          <a:xfrm>
            <a:off x="386080" y="5415280"/>
            <a:ext cx="7452681" cy="738664"/>
          </a:xfrm>
          <a:prstGeom prst="rect">
            <a:avLst/>
          </a:prstGeom>
          <a:noFill/>
        </p:spPr>
        <p:txBody>
          <a:bodyPr wrap="none" rtlCol="0">
            <a:spAutoFit/>
          </a:bodyPr>
          <a:lstStyle/>
          <a:p>
            <a:pPr marL="285750" indent="-285750">
              <a:buFont typeface="Arial" panose="020B0604020202020204" pitchFamily="34" charset="0"/>
              <a:buChar char="•"/>
            </a:pPr>
            <a:r>
              <a:rPr lang="en-US" b="1" dirty="0"/>
              <a:t>Shreyas from Goa team is leading wicket taker of the tournament with 27 wickets. </a:t>
            </a:r>
          </a:p>
          <a:p>
            <a:pPr marL="285750" indent="-285750">
              <a:buFont typeface="Arial" panose="020B0604020202020204" pitchFamily="34" charset="0"/>
              <a:buChar char="•"/>
            </a:pPr>
            <a:r>
              <a:rPr lang="en-US" b="1" dirty="0"/>
              <a:t>Sai from Pondicherry is second highest wicket taker with 26 wickets. </a:t>
            </a:r>
          </a:p>
          <a:p>
            <a:pPr marL="285750" indent="-285750">
              <a:buFont typeface="Arial" panose="020B0604020202020204" pitchFamily="34" charset="0"/>
              <a:buChar char="•"/>
            </a:pPr>
            <a:r>
              <a:rPr lang="en-US" b="1" dirty="0"/>
              <a:t>Bowler’s contribution with wickets is also important factor for the team to win.</a:t>
            </a:r>
            <a:endParaRPr lang="en-IN"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704A-203B-4B49-E0E5-8708F24EA54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D849BA4-6CDF-60D2-02CB-4DF5D80CD876}"/>
              </a:ext>
            </a:extLst>
          </p:cNvPr>
          <p:cNvSpPr txBox="1"/>
          <p:nvPr/>
        </p:nvSpPr>
        <p:spPr>
          <a:xfrm>
            <a:off x="857865" y="393290"/>
            <a:ext cx="8815524" cy="400110"/>
          </a:xfrm>
          <a:prstGeom prst="rect">
            <a:avLst/>
          </a:prstGeom>
          <a:noFill/>
        </p:spPr>
        <p:txBody>
          <a:bodyPr wrap="square" rtlCol="0">
            <a:spAutoFit/>
          </a:bodyPr>
          <a:lstStyle/>
          <a:p>
            <a:r>
              <a:rPr lang="en-IN" sz="2000" b="1" dirty="0">
                <a:latin typeface="Lucida Fax" panose="02060602050505020204" pitchFamily="18" charset="0"/>
              </a:rPr>
              <a:t>03. Statistics of Best Bowler of Tournament.</a:t>
            </a:r>
          </a:p>
        </p:txBody>
      </p:sp>
      <p:sp>
        <p:nvSpPr>
          <p:cNvPr id="6" name="TextBox 5">
            <a:extLst>
              <a:ext uri="{FF2B5EF4-FFF2-40B4-BE49-F238E27FC236}">
                <a16:creationId xmlns:a16="http://schemas.microsoft.com/office/drawing/2014/main" id="{9471F76E-9C6D-04EC-3E17-E2629D3ACF60}"/>
              </a:ext>
            </a:extLst>
          </p:cNvPr>
          <p:cNvSpPr txBox="1"/>
          <p:nvPr/>
        </p:nvSpPr>
        <p:spPr>
          <a:xfrm>
            <a:off x="8200189" y="934720"/>
            <a:ext cx="2946400" cy="954107"/>
          </a:xfrm>
          <a:prstGeom prst="rect">
            <a:avLst/>
          </a:prstGeom>
          <a:noFill/>
        </p:spPr>
        <p:txBody>
          <a:bodyPr wrap="square" rtlCol="0">
            <a:spAutoFit/>
          </a:bodyPr>
          <a:lstStyle/>
          <a:p>
            <a:pPr marL="285750" indent="-285750">
              <a:buFont typeface="Arial" panose="020B0604020202020204" pitchFamily="34" charset="0"/>
              <a:buChar char="•"/>
            </a:pPr>
            <a:r>
              <a:rPr lang="en-US" b="1" dirty="0"/>
              <a:t>Shreyas from Goa performed exceptionally well in the tournament with 27 wickets 3.68 economy.</a:t>
            </a:r>
            <a:endParaRPr lang="en-IN" b="1" dirty="0"/>
          </a:p>
        </p:txBody>
      </p:sp>
      <p:pic>
        <p:nvPicPr>
          <p:cNvPr id="4" name="Picture 3">
            <a:extLst>
              <a:ext uri="{FF2B5EF4-FFF2-40B4-BE49-F238E27FC236}">
                <a16:creationId xmlns:a16="http://schemas.microsoft.com/office/drawing/2014/main" id="{2B0E7168-48F8-5B37-43EF-BF82F85B83F5}"/>
              </a:ext>
            </a:extLst>
          </p:cNvPr>
          <p:cNvPicPr>
            <a:picLocks noChangeAspect="1"/>
          </p:cNvPicPr>
          <p:nvPr/>
        </p:nvPicPr>
        <p:blipFill>
          <a:blip r:embed="rId2"/>
          <a:stretch>
            <a:fillRect/>
          </a:stretch>
        </p:blipFill>
        <p:spPr>
          <a:xfrm>
            <a:off x="386080" y="934720"/>
            <a:ext cx="4538258" cy="4318000"/>
          </a:xfrm>
          <a:prstGeom prst="rect">
            <a:avLst/>
          </a:prstGeom>
        </p:spPr>
      </p:pic>
      <p:pic>
        <p:nvPicPr>
          <p:cNvPr id="9" name="Picture 8">
            <a:extLst>
              <a:ext uri="{FF2B5EF4-FFF2-40B4-BE49-F238E27FC236}">
                <a16:creationId xmlns:a16="http://schemas.microsoft.com/office/drawing/2014/main" id="{A417BBDF-7070-A44A-7908-0550DC8645E3}"/>
              </a:ext>
            </a:extLst>
          </p:cNvPr>
          <p:cNvPicPr>
            <a:picLocks noChangeAspect="1"/>
          </p:cNvPicPr>
          <p:nvPr/>
        </p:nvPicPr>
        <p:blipFill>
          <a:blip r:embed="rId3"/>
          <a:stretch>
            <a:fillRect/>
          </a:stretch>
        </p:blipFill>
        <p:spPr>
          <a:xfrm>
            <a:off x="5295989" y="934720"/>
            <a:ext cx="2710091" cy="3364702"/>
          </a:xfrm>
          <a:prstGeom prst="rect">
            <a:avLst/>
          </a:prstGeom>
        </p:spPr>
      </p:pic>
    </p:spTree>
    <p:extLst>
      <p:ext uri="{BB962C8B-B14F-4D97-AF65-F5344CB8AC3E}">
        <p14:creationId xmlns:p14="http://schemas.microsoft.com/office/powerpoint/2010/main" val="1557460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DAF0D-EC13-96AD-0A1D-06C28799640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98C562C-F0D9-A4F4-405F-E4F612CCB3E6}"/>
              </a:ext>
            </a:extLst>
          </p:cNvPr>
          <p:cNvSpPr txBox="1"/>
          <p:nvPr/>
        </p:nvSpPr>
        <p:spPr>
          <a:xfrm>
            <a:off x="857865" y="393290"/>
            <a:ext cx="8815524" cy="400110"/>
          </a:xfrm>
          <a:prstGeom prst="rect">
            <a:avLst/>
          </a:prstGeom>
          <a:noFill/>
        </p:spPr>
        <p:txBody>
          <a:bodyPr wrap="square" rtlCol="0">
            <a:spAutoFit/>
          </a:bodyPr>
          <a:lstStyle/>
          <a:p>
            <a:r>
              <a:rPr lang="en-IN" sz="2000" b="1" dirty="0">
                <a:latin typeface="Lucida Fax" panose="02060602050505020204" pitchFamily="18" charset="0"/>
              </a:rPr>
              <a:t>04. Least Performing Bowler by average Economy.</a:t>
            </a:r>
          </a:p>
        </p:txBody>
      </p:sp>
      <p:sp>
        <p:nvSpPr>
          <p:cNvPr id="6" name="TextBox 5">
            <a:extLst>
              <a:ext uri="{FF2B5EF4-FFF2-40B4-BE49-F238E27FC236}">
                <a16:creationId xmlns:a16="http://schemas.microsoft.com/office/drawing/2014/main" id="{3317BEC2-8305-70E0-ACAC-EFF8A47575C3}"/>
              </a:ext>
            </a:extLst>
          </p:cNvPr>
          <p:cNvSpPr txBox="1"/>
          <p:nvPr/>
        </p:nvSpPr>
        <p:spPr>
          <a:xfrm>
            <a:off x="325120" y="5510603"/>
            <a:ext cx="8371840" cy="738664"/>
          </a:xfrm>
          <a:prstGeom prst="rect">
            <a:avLst/>
          </a:prstGeom>
          <a:noFill/>
        </p:spPr>
        <p:txBody>
          <a:bodyPr wrap="square" rtlCol="0">
            <a:spAutoFit/>
          </a:bodyPr>
          <a:lstStyle/>
          <a:p>
            <a:pPr marL="285750" indent="-285750">
              <a:buFont typeface="Arial" panose="020B0604020202020204" pitchFamily="34" charset="0"/>
              <a:buChar char="•"/>
            </a:pPr>
            <a:r>
              <a:rPr lang="en-US" b="1" dirty="0"/>
              <a:t>Manav from Bihar had hard luck with bowl in the tournament with economy of 4.10.</a:t>
            </a:r>
          </a:p>
          <a:p>
            <a:pPr marL="285750" indent="-285750">
              <a:buFont typeface="Arial" panose="020B0604020202020204" pitchFamily="34" charset="0"/>
              <a:buChar char="•"/>
            </a:pPr>
            <a:r>
              <a:rPr lang="en-US" b="1" dirty="0"/>
              <a:t>Manav has taken 10 wickets. </a:t>
            </a:r>
          </a:p>
          <a:p>
            <a:pPr marL="285750" indent="-285750">
              <a:buFont typeface="Arial" panose="020B0604020202020204" pitchFamily="34" charset="0"/>
              <a:buChar char="•"/>
            </a:pPr>
            <a:r>
              <a:rPr lang="en-US" b="1" dirty="0"/>
              <a:t>The player needs to work on his strength and weakness.</a:t>
            </a:r>
            <a:endParaRPr lang="en-IN" b="1" dirty="0"/>
          </a:p>
        </p:txBody>
      </p:sp>
      <p:pic>
        <p:nvPicPr>
          <p:cNvPr id="3" name="Picture 2">
            <a:extLst>
              <a:ext uri="{FF2B5EF4-FFF2-40B4-BE49-F238E27FC236}">
                <a16:creationId xmlns:a16="http://schemas.microsoft.com/office/drawing/2014/main" id="{24A6EDB5-474E-F1A9-B7BA-BF51C4AA8BBC}"/>
              </a:ext>
            </a:extLst>
          </p:cNvPr>
          <p:cNvPicPr>
            <a:picLocks noChangeAspect="1"/>
          </p:cNvPicPr>
          <p:nvPr/>
        </p:nvPicPr>
        <p:blipFill>
          <a:blip r:embed="rId2"/>
          <a:stretch>
            <a:fillRect/>
          </a:stretch>
        </p:blipFill>
        <p:spPr>
          <a:xfrm>
            <a:off x="325120" y="934720"/>
            <a:ext cx="5598160" cy="4267200"/>
          </a:xfrm>
          <a:prstGeom prst="rect">
            <a:avLst/>
          </a:prstGeom>
        </p:spPr>
      </p:pic>
      <p:pic>
        <p:nvPicPr>
          <p:cNvPr id="7" name="Picture 6">
            <a:extLst>
              <a:ext uri="{FF2B5EF4-FFF2-40B4-BE49-F238E27FC236}">
                <a16:creationId xmlns:a16="http://schemas.microsoft.com/office/drawing/2014/main" id="{56A1798D-7954-7C6B-3F56-0D6A4E66C223}"/>
              </a:ext>
            </a:extLst>
          </p:cNvPr>
          <p:cNvPicPr>
            <a:picLocks noChangeAspect="1"/>
          </p:cNvPicPr>
          <p:nvPr/>
        </p:nvPicPr>
        <p:blipFill>
          <a:blip r:embed="rId3"/>
          <a:stretch>
            <a:fillRect/>
          </a:stretch>
        </p:blipFill>
        <p:spPr>
          <a:xfrm>
            <a:off x="6096000" y="934720"/>
            <a:ext cx="4876800" cy="4267200"/>
          </a:xfrm>
          <a:prstGeom prst="rect">
            <a:avLst/>
          </a:prstGeom>
        </p:spPr>
      </p:pic>
    </p:spTree>
    <p:extLst>
      <p:ext uri="{BB962C8B-B14F-4D97-AF65-F5344CB8AC3E}">
        <p14:creationId xmlns:p14="http://schemas.microsoft.com/office/powerpoint/2010/main" val="3624878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D7AFB-63BC-F98C-B692-4419E31212A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D22018D-E3C3-F0A4-5D52-6238ADBDB01C}"/>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05. Batter with Best Average</a:t>
            </a:r>
            <a:endParaRPr lang="en-IN" sz="2000" b="1" dirty="0">
              <a:latin typeface="Lucida Fax" panose="02060602050505020204" pitchFamily="18" charset="0"/>
            </a:endParaRPr>
          </a:p>
        </p:txBody>
      </p:sp>
      <p:sp>
        <p:nvSpPr>
          <p:cNvPr id="6" name="TextBox 5">
            <a:extLst>
              <a:ext uri="{FF2B5EF4-FFF2-40B4-BE49-F238E27FC236}">
                <a16:creationId xmlns:a16="http://schemas.microsoft.com/office/drawing/2014/main" id="{B252B489-3237-4239-A1C2-AB9DDB30AD77}"/>
              </a:ext>
            </a:extLst>
          </p:cNvPr>
          <p:cNvSpPr txBox="1"/>
          <p:nvPr/>
        </p:nvSpPr>
        <p:spPr>
          <a:xfrm>
            <a:off x="304800" y="5406512"/>
            <a:ext cx="10871200"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t>Harsh from Vidarbha team has highest batting average of 57.8 runs in 5 innings  with a total of 289 runs.</a:t>
            </a:r>
          </a:p>
          <a:p>
            <a:pPr marL="285750" indent="-285750">
              <a:buFont typeface="Arial" panose="020B0604020202020204" pitchFamily="34" charset="0"/>
              <a:buChar char="•"/>
            </a:pPr>
            <a:r>
              <a:rPr lang="en-US" b="1" dirty="0"/>
              <a:t>Interestingly highest run scorer of tournament does not have highest average in this tournament.</a:t>
            </a:r>
            <a:endParaRPr lang="en-IN" b="1" dirty="0"/>
          </a:p>
        </p:txBody>
      </p:sp>
      <p:pic>
        <p:nvPicPr>
          <p:cNvPr id="4" name="Picture 3">
            <a:extLst>
              <a:ext uri="{FF2B5EF4-FFF2-40B4-BE49-F238E27FC236}">
                <a16:creationId xmlns:a16="http://schemas.microsoft.com/office/drawing/2014/main" id="{191882D3-367F-F185-36A0-DB710208606C}"/>
              </a:ext>
            </a:extLst>
          </p:cNvPr>
          <p:cNvPicPr>
            <a:picLocks noChangeAspect="1"/>
          </p:cNvPicPr>
          <p:nvPr/>
        </p:nvPicPr>
        <p:blipFill>
          <a:blip r:embed="rId2"/>
          <a:stretch>
            <a:fillRect/>
          </a:stretch>
        </p:blipFill>
        <p:spPr>
          <a:xfrm>
            <a:off x="418465" y="934720"/>
            <a:ext cx="4996815" cy="4330472"/>
          </a:xfrm>
          <a:prstGeom prst="rect">
            <a:avLst/>
          </a:prstGeom>
        </p:spPr>
      </p:pic>
      <p:pic>
        <p:nvPicPr>
          <p:cNvPr id="9" name="Picture 8">
            <a:extLst>
              <a:ext uri="{FF2B5EF4-FFF2-40B4-BE49-F238E27FC236}">
                <a16:creationId xmlns:a16="http://schemas.microsoft.com/office/drawing/2014/main" id="{E0DC1421-9B0F-659E-AC2F-159E4D34F8FB}"/>
              </a:ext>
            </a:extLst>
          </p:cNvPr>
          <p:cNvPicPr>
            <a:picLocks noChangeAspect="1"/>
          </p:cNvPicPr>
          <p:nvPr/>
        </p:nvPicPr>
        <p:blipFill>
          <a:blip r:embed="rId3"/>
          <a:stretch>
            <a:fillRect/>
          </a:stretch>
        </p:blipFill>
        <p:spPr>
          <a:xfrm>
            <a:off x="5613717" y="934720"/>
            <a:ext cx="6032397" cy="3312160"/>
          </a:xfrm>
          <a:prstGeom prst="rect">
            <a:avLst/>
          </a:prstGeom>
        </p:spPr>
      </p:pic>
    </p:spTree>
    <p:extLst>
      <p:ext uri="{BB962C8B-B14F-4D97-AF65-F5344CB8AC3E}">
        <p14:creationId xmlns:p14="http://schemas.microsoft.com/office/powerpoint/2010/main" val="2386716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112E1-D6CC-A09C-33C3-C8F9F7A4608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FEFF095-BE44-57A4-9727-86CA9A491257}"/>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06. Batters with Least Average</a:t>
            </a:r>
            <a:endParaRPr lang="en-IN" sz="2000" b="1" dirty="0">
              <a:latin typeface="Lucida Fax" panose="02060602050505020204" pitchFamily="18" charset="0"/>
            </a:endParaRPr>
          </a:p>
        </p:txBody>
      </p:sp>
      <p:sp>
        <p:nvSpPr>
          <p:cNvPr id="6" name="TextBox 5">
            <a:extLst>
              <a:ext uri="{FF2B5EF4-FFF2-40B4-BE49-F238E27FC236}">
                <a16:creationId xmlns:a16="http://schemas.microsoft.com/office/drawing/2014/main" id="{89B1E71A-FBBA-AFEC-A5B8-4E6F9BF9A02F}"/>
              </a:ext>
            </a:extLst>
          </p:cNvPr>
          <p:cNvSpPr txBox="1"/>
          <p:nvPr/>
        </p:nvSpPr>
        <p:spPr>
          <a:xfrm>
            <a:off x="304800" y="5406512"/>
            <a:ext cx="10871200"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t>Vivek from Delhi scored 22 runs in 5 innings with average of 4.40. </a:t>
            </a:r>
          </a:p>
          <a:p>
            <a:pPr marL="285750" indent="-285750">
              <a:buFont typeface="Arial" panose="020B0604020202020204" pitchFamily="34" charset="0"/>
              <a:buChar char="•"/>
            </a:pPr>
            <a:r>
              <a:rPr lang="en-US" b="1" dirty="0"/>
              <a:t>These batters should work hard on their skills.</a:t>
            </a:r>
            <a:endParaRPr lang="en-IN" b="1" dirty="0"/>
          </a:p>
        </p:txBody>
      </p:sp>
      <p:pic>
        <p:nvPicPr>
          <p:cNvPr id="3" name="Picture 2">
            <a:extLst>
              <a:ext uri="{FF2B5EF4-FFF2-40B4-BE49-F238E27FC236}">
                <a16:creationId xmlns:a16="http://schemas.microsoft.com/office/drawing/2014/main" id="{2A293D5D-F7E0-E57A-A4FA-C7FC27E9EFDE}"/>
              </a:ext>
            </a:extLst>
          </p:cNvPr>
          <p:cNvPicPr>
            <a:picLocks noChangeAspect="1"/>
          </p:cNvPicPr>
          <p:nvPr/>
        </p:nvPicPr>
        <p:blipFill>
          <a:blip r:embed="rId2"/>
          <a:stretch>
            <a:fillRect/>
          </a:stretch>
        </p:blipFill>
        <p:spPr>
          <a:xfrm>
            <a:off x="453708" y="793400"/>
            <a:ext cx="5926772" cy="4276725"/>
          </a:xfrm>
          <a:prstGeom prst="rect">
            <a:avLst/>
          </a:prstGeom>
        </p:spPr>
      </p:pic>
      <p:pic>
        <p:nvPicPr>
          <p:cNvPr id="7" name="Picture 6">
            <a:extLst>
              <a:ext uri="{FF2B5EF4-FFF2-40B4-BE49-F238E27FC236}">
                <a16:creationId xmlns:a16="http://schemas.microsoft.com/office/drawing/2014/main" id="{F7CCCBA4-5DD1-5011-F290-4C7EA46BC25F}"/>
              </a:ext>
            </a:extLst>
          </p:cNvPr>
          <p:cNvPicPr>
            <a:picLocks noChangeAspect="1"/>
          </p:cNvPicPr>
          <p:nvPr/>
        </p:nvPicPr>
        <p:blipFill>
          <a:blip r:embed="rId3"/>
          <a:stretch>
            <a:fillRect/>
          </a:stretch>
        </p:blipFill>
        <p:spPr>
          <a:xfrm>
            <a:off x="6543060" y="793400"/>
            <a:ext cx="4791075" cy="3343275"/>
          </a:xfrm>
          <a:prstGeom prst="rect">
            <a:avLst/>
          </a:prstGeom>
        </p:spPr>
      </p:pic>
    </p:spTree>
    <p:extLst>
      <p:ext uri="{BB962C8B-B14F-4D97-AF65-F5344CB8AC3E}">
        <p14:creationId xmlns:p14="http://schemas.microsoft.com/office/powerpoint/2010/main" val="2757177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6E7D-2AA4-3405-96D7-64C5F620F40A}"/>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6E121D9-7978-AD66-0E2A-469D72E16138}"/>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07. Batters with Highest Strike Rate</a:t>
            </a:r>
          </a:p>
        </p:txBody>
      </p:sp>
      <p:sp>
        <p:nvSpPr>
          <p:cNvPr id="6" name="TextBox 5">
            <a:extLst>
              <a:ext uri="{FF2B5EF4-FFF2-40B4-BE49-F238E27FC236}">
                <a16:creationId xmlns:a16="http://schemas.microsoft.com/office/drawing/2014/main" id="{8BA60B6C-45E4-C1AD-3780-EA088FDEC4FD}"/>
              </a:ext>
            </a:extLst>
          </p:cNvPr>
          <p:cNvSpPr txBox="1"/>
          <p:nvPr/>
        </p:nvSpPr>
        <p:spPr>
          <a:xfrm>
            <a:off x="304800" y="5406512"/>
            <a:ext cx="10871200"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t>Adithya from Vidarbha has highest strike rate of 82.65 runs in the tournament,</a:t>
            </a:r>
          </a:p>
          <a:p>
            <a:r>
              <a:rPr lang="en-US" b="1" dirty="0"/>
              <a:t>      followed by Sai from Bihar with 81 runs.</a:t>
            </a:r>
            <a:endParaRPr lang="en-IN" b="1" dirty="0"/>
          </a:p>
        </p:txBody>
      </p:sp>
      <p:pic>
        <p:nvPicPr>
          <p:cNvPr id="4" name="Picture 3">
            <a:extLst>
              <a:ext uri="{FF2B5EF4-FFF2-40B4-BE49-F238E27FC236}">
                <a16:creationId xmlns:a16="http://schemas.microsoft.com/office/drawing/2014/main" id="{8AB23EB6-3427-65D1-E81D-C8E29AFD63B7}"/>
              </a:ext>
            </a:extLst>
          </p:cNvPr>
          <p:cNvPicPr>
            <a:picLocks noChangeAspect="1"/>
          </p:cNvPicPr>
          <p:nvPr/>
        </p:nvPicPr>
        <p:blipFill>
          <a:blip r:embed="rId2"/>
          <a:stretch>
            <a:fillRect/>
          </a:stretch>
        </p:blipFill>
        <p:spPr>
          <a:xfrm>
            <a:off x="398462" y="928268"/>
            <a:ext cx="5095875" cy="4114800"/>
          </a:xfrm>
          <a:prstGeom prst="rect">
            <a:avLst/>
          </a:prstGeom>
        </p:spPr>
      </p:pic>
      <p:pic>
        <p:nvPicPr>
          <p:cNvPr id="9" name="Picture 8">
            <a:extLst>
              <a:ext uri="{FF2B5EF4-FFF2-40B4-BE49-F238E27FC236}">
                <a16:creationId xmlns:a16="http://schemas.microsoft.com/office/drawing/2014/main" id="{F53430AE-8629-5C71-9446-F081E0B2721E}"/>
              </a:ext>
            </a:extLst>
          </p:cNvPr>
          <p:cNvPicPr>
            <a:picLocks noChangeAspect="1"/>
          </p:cNvPicPr>
          <p:nvPr/>
        </p:nvPicPr>
        <p:blipFill>
          <a:blip r:embed="rId3"/>
          <a:stretch>
            <a:fillRect/>
          </a:stretch>
        </p:blipFill>
        <p:spPr>
          <a:xfrm>
            <a:off x="5740400" y="928268"/>
            <a:ext cx="4907280" cy="3570224"/>
          </a:xfrm>
          <a:prstGeom prst="rect">
            <a:avLst/>
          </a:prstGeom>
        </p:spPr>
      </p:pic>
    </p:spTree>
    <p:extLst>
      <p:ext uri="{BB962C8B-B14F-4D97-AF65-F5344CB8AC3E}">
        <p14:creationId xmlns:p14="http://schemas.microsoft.com/office/powerpoint/2010/main" val="2861784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A37C3-1C43-07C7-F6EF-4F418171757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163E7FB-68B0-DF02-3342-899D4C598826}"/>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08. Most Consistent Batter</a:t>
            </a:r>
          </a:p>
        </p:txBody>
      </p:sp>
      <p:sp>
        <p:nvSpPr>
          <p:cNvPr id="6" name="TextBox 5">
            <a:extLst>
              <a:ext uri="{FF2B5EF4-FFF2-40B4-BE49-F238E27FC236}">
                <a16:creationId xmlns:a16="http://schemas.microsoft.com/office/drawing/2014/main" id="{F170177C-7FD7-85A2-7055-642FF999A8EE}"/>
              </a:ext>
            </a:extLst>
          </p:cNvPr>
          <p:cNvSpPr txBox="1"/>
          <p:nvPr/>
        </p:nvSpPr>
        <p:spPr>
          <a:xfrm>
            <a:off x="5958049" y="4174551"/>
            <a:ext cx="5830409" cy="307777"/>
          </a:xfrm>
          <a:prstGeom prst="rect">
            <a:avLst/>
          </a:prstGeom>
          <a:noFill/>
        </p:spPr>
        <p:txBody>
          <a:bodyPr wrap="square" rtlCol="0">
            <a:spAutoFit/>
          </a:bodyPr>
          <a:lstStyle/>
          <a:p>
            <a:pPr marL="285750" indent="-285750">
              <a:buFont typeface="Arial" panose="020B0604020202020204" pitchFamily="34" charset="0"/>
              <a:buChar char="•"/>
            </a:pPr>
            <a:r>
              <a:rPr lang="en-US" b="1" dirty="0"/>
              <a:t>Arjun from Goa is most consistent player in the tournament.</a:t>
            </a:r>
            <a:endParaRPr lang="en-IN" b="1" dirty="0"/>
          </a:p>
        </p:txBody>
      </p:sp>
      <p:pic>
        <p:nvPicPr>
          <p:cNvPr id="3" name="Picture 2">
            <a:extLst>
              <a:ext uri="{FF2B5EF4-FFF2-40B4-BE49-F238E27FC236}">
                <a16:creationId xmlns:a16="http://schemas.microsoft.com/office/drawing/2014/main" id="{3293CF13-0931-AFF0-5306-EBEE8348AADE}"/>
              </a:ext>
            </a:extLst>
          </p:cNvPr>
          <p:cNvPicPr>
            <a:picLocks noChangeAspect="1"/>
          </p:cNvPicPr>
          <p:nvPr/>
        </p:nvPicPr>
        <p:blipFill>
          <a:blip r:embed="rId2"/>
          <a:stretch>
            <a:fillRect/>
          </a:stretch>
        </p:blipFill>
        <p:spPr>
          <a:xfrm>
            <a:off x="403542" y="928268"/>
            <a:ext cx="5248275" cy="4543425"/>
          </a:xfrm>
          <a:prstGeom prst="rect">
            <a:avLst/>
          </a:prstGeom>
        </p:spPr>
      </p:pic>
      <p:pic>
        <p:nvPicPr>
          <p:cNvPr id="7" name="Picture 6">
            <a:extLst>
              <a:ext uri="{FF2B5EF4-FFF2-40B4-BE49-F238E27FC236}">
                <a16:creationId xmlns:a16="http://schemas.microsoft.com/office/drawing/2014/main" id="{630E31EC-06A9-5A72-3048-0CC62BC63259}"/>
              </a:ext>
            </a:extLst>
          </p:cNvPr>
          <p:cNvPicPr>
            <a:picLocks noChangeAspect="1"/>
          </p:cNvPicPr>
          <p:nvPr/>
        </p:nvPicPr>
        <p:blipFill>
          <a:blip r:embed="rId3"/>
          <a:stretch>
            <a:fillRect/>
          </a:stretch>
        </p:blipFill>
        <p:spPr>
          <a:xfrm>
            <a:off x="7236142" y="928268"/>
            <a:ext cx="3015298" cy="2929844"/>
          </a:xfrm>
          <a:prstGeom prst="rect">
            <a:avLst/>
          </a:prstGeom>
        </p:spPr>
      </p:pic>
    </p:spTree>
    <p:extLst>
      <p:ext uri="{BB962C8B-B14F-4D97-AF65-F5344CB8AC3E}">
        <p14:creationId xmlns:p14="http://schemas.microsoft.com/office/powerpoint/2010/main" val="2065266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1B542-4C21-833E-CD9F-17ABFFDF4C61}"/>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42FD614-CB83-1610-24F6-72EABA89C757}"/>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09. Statistics of Best Batter</a:t>
            </a:r>
          </a:p>
        </p:txBody>
      </p:sp>
      <p:sp>
        <p:nvSpPr>
          <p:cNvPr id="6" name="TextBox 5">
            <a:extLst>
              <a:ext uri="{FF2B5EF4-FFF2-40B4-BE49-F238E27FC236}">
                <a16:creationId xmlns:a16="http://schemas.microsoft.com/office/drawing/2014/main" id="{2AB7085D-4104-152F-093B-D0F3BD0716E9}"/>
              </a:ext>
            </a:extLst>
          </p:cNvPr>
          <p:cNvSpPr txBox="1"/>
          <p:nvPr/>
        </p:nvSpPr>
        <p:spPr>
          <a:xfrm>
            <a:off x="5872259" y="3736685"/>
            <a:ext cx="6065520" cy="954107"/>
          </a:xfrm>
          <a:prstGeom prst="rect">
            <a:avLst/>
          </a:prstGeom>
          <a:noFill/>
        </p:spPr>
        <p:txBody>
          <a:bodyPr wrap="square" rtlCol="0">
            <a:spAutoFit/>
          </a:bodyPr>
          <a:lstStyle/>
          <a:p>
            <a:pPr marL="285750" indent="-285750">
              <a:buFont typeface="Arial" panose="020B0604020202020204" pitchFamily="34" charset="0"/>
              <a:buChar char="•"/>
            </a:pPr>
            <a:r>
              <a:rPr lang="en-US" b="1" dirty="0"/>
              <a:t>Pranav from Tamil Nadu has scored highest in the tournament with 959 runs.</a:t>
            </a:r>
          </a:p>
          <a:p>
            <a:endParaRPr lang="en-US" b="1" dirty="0"/>
          </a:p>
          <a:p>
            <a:pPr marL="285750" indent="-285750">
              <a:buFont typeface="Arial" panose="020B0604020202020204" pitchFamily="34" charset="0"/>
              <a:buChar char="•"/>
            </a:pPr>
            <a:r>
              <a:rPr lang="en-US" b="1" dirty="0"/>
              <a:t>90 runs is his batting average. 45 runs strike rate.</a:t>
            </a:r>
            <a:endParaRPr lang="en-IN" b="1" dirty="0"/>
          </a:p>
        </p:txBody>
      </p:sp>
      <p:pic>
        <p:nvPicPr>
          <p:cNvPr id="3" name="Picture 2">
            <a:extLst>
              <a:ext uri="{FF2B5EF4-FFF2-40B4-BE49-F238E27FC236}">
                <a16:creationId xmlns:a16="http://schemas.microsoft.com/office/drawing/2014/main" id="{D281470A-FBAC-1640-755F-F5C4FD85C3BB}"/>
              </a:ext>
            </a:extLst>
          </p:cNvPr>
          <p:cNvPicPr>
            <a:picLocks noChangeAspect="1"/>
          </p:cNvPicPr>
          <p:nvPr/>
        </p:nvPicPr>
        <p:blipFill>
          <a:blip r:embed="rId2"/>
          <a:stretch>
            <a:fillRect/>
          </a:stretch>
        </p:blipFill>
        <p:spPr>
          <a:xfrm>
            <a:off x="304800" y="793400"/>
            <a:ext cx="5212080" cy="5465160"/>
          </a:xfrm>
          <a:prstGeom prst="rect">
            <a:avLst/>
          </a:prstGeom>
        </p:spPr>
      </p:pic>
      <p:pic>
        <p:nvPicPr>
          <p:cNvPr id="7" name="Picture 6">
            <a:extLst>
              <a:ext uri="{FF2B5EF4-FFF2-40B4-BE49-F238E27FC236}">
                <a16:creationId xmlns:a16="http://schemas.microsoft.com/office/drawing/2014/main" id="{8A07816D-27F5-78FC-5174-E5A9C3A49ACE}"/>
              </a:ext>
            </a:extLst>
          </p:cNvPr>
          <p:cNvPicPr>
            <a:picLocks noChangeAspect="1"/>
          </p:cNvPicPr>
          <p:nvPr/>
        </p:nvPicPr>
        <p:blipFill>
          <a:blip r:embed="rId3"/>
          <a:stretch>
            <a:fillRect/>
          </a:stretch>
        </p:blipFill>
        <p:spPr>
          <a:xfrm>
            <a:off x="7121939" y="793400"/>
            <a:ext cx="3104515" cy="2543175"/>
          </a:xfrm>
          <a:prstGeom prst="rect">
            <a:avLst/>
          </a:prstGeom>
        </p:spPr>
      </p:pic>
    </p:spTree>
    <p:extLst>
      <p:ext uri="{BB962C8B-B14F-4D97-AF65-F5344CB8AC3E}">
        <p14:creationId xmlns:p14="http://schemas.microsoft.com/office/powerpoint/2010/main" val="3760884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A3C71-B6D6-FCB3-0E07-8B910072BFA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8667E9E-E92B-9086-758D-CAB67CCB5082}"/>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10. Batters with Highest Strike Rate</a:t>
            </a:r>
          </a:p>
        </p:txBody>
      </p:sp>
      <p:sp>
        <p:nvSpPr>
          <p:cNvPr id="6" name="TextBox 5">
            <a:extLst>
              <a:ext uri="{FF2B5EF4-FFF2-40B4-BE49-F238E27FC236}">
                <a16:creationId xmlns:a16="http://schemas.microsoft.com/office/drawing/2014/main" id="{A05943E2-B200-7268-69FE-4D13102FBB29}"/>
              </a:ext>
            </a:extLst>
          </p:cNvPr>
          <p:cNvSpPr txBox="1"/>
          <p:nvPr/>
        </p:nvSpPr>
        <p:spPr>
          <a:xfrm>
            <a:off x="7116128" y="4807072"/>
            <a:ext cx="4907280" cy="1169551"/>
          </a:xfrm>
          <a:prstGeom prst="rect">
            <a:avLst/>
          </a:prstGeom>
          <a:noFill/>
        </p:spPr>
        <p:txBody>
          <a:bodyPr wrap="square" rtlCol="0">
            <a:spAutoFit/>
          </a:bodyPr>
          <a:lstStyle/>
          <a:p>
            <a:pPr marL="285750" indent="-285750">
              <a:buFont typeface="Arial" panose="020B0604020202020204" pitchFamily="34" charset="0"/>
              <a:buChar char="•"/>
            </a:pPr>
            <a:r>
              <a:rPr lang="en-US" b="1" dirty="0"/>
              <a:t>Harsh and Sai from Goa contributed with both bat and ball with 585 runs 21 wickets and 593 runs 18 wickets respectively. </a:t>
            </a:r>
          </a:p>
          <a:p>
            <a:pPr marL="285750" indent="-285750">
              <a:buFont typeface="Arial" panose="020B0604020202020204" pitchFamily="34" charset="0"/>
              <a:buChar char="•"/>
            </a:pPr>
            <a:r>
              <a:rPr lang="en-US" b="1" dirty="0"/>
              <a:t>All rounders bring balance in the team with both bat and ball.</a:t>
            </a:r>
            <a:endParaRPr lang="en-IN" b="1" dirty="0"/>
          </a:p>
        </p:txBody>
      </p:sp>
      <p:pic>
        <p:nvPicPr>
          <p:cNvPr id="3" name="Picture 2">
            <a:extLst>
              <a:ext uri="{FF2B5EF4-FFF2-40B4-BE49-F238E27FC236}">
                <a16:creationId xmlns:a16="http://schemas.microsoft.com/office/drawing/2014/main" id="{DB127EF0-BE4F-1003-38AC-A9AB23BAA958}"/>
              </a:ext>
            </a:extLst>
          </p:cNvPr>
          <p:cNvPicPr>
            <a:picLocks noChangeAspect="1"/>
          </p:cNvPicPr>
          <p:nvPr/>
        </p:nvPicPr>
        <p:blipFill>
          <a:blip r:embed="rId2"/>
          <a:stretch>
            <a:fillRect/>
          </a:stretch>
        </p:blipFill>
        <p:spPr>
          <a:xfrm>
            <a:off x="304800" y="793401"/>
            <a:ext cx="6429375" cy="5810600"/>
          </a:xfrm>
          <a:prstGeom prst="rect">
            <a:avLst/>
          </a:prstGeom>
        </p:spPr>
      </p:pic>
      <p:pic>
        <p:nvPicPr>
          <p:cNvPr id="7" name="Picture 6">
            <a:extLst>
              <a:ext uri="{FF2B5EF4-FFF2-40B4-BE49-F238E27FC236}">
                <a16:creationId xmlns:a16="http://schemas.microsoft.com/office/drawing/2014/main" id="{C585EEE8-531C-ABD4-3B64-4A4B0548373E}"/>
              </a:ext>
            </a:extLst>
          </p:cNvPr>
          <p:cNvPicPr>
            <a:picLocks noChangeAspect="1"/>
          </p:cNvPicPr>
          <p:nvPr/>
        </p:nvPicPr>
        <p:blipFill>
          <a:blip r:embed="rId3"/>
          <a:stretch>
            <a:fillRect/>
          </a:stretch>
        </p:blipFill>
        <p:spPr>
          <a:xfrm>
            <a:off x="6909753" y="797047"/>
            <a:ext cx="5113656" cy="3734313"/>
          </a:xfrm>
          <a:prstGeom prst="rect">
            <a:avLst/>
          </a:prstGeom>
        </p:spPr>
      </p:pic>
    </p:spTree>
    <p:extLst>
      <p:ext uri="{BB962C8B-B14F-4D97-AF65-F5344CB8AC3E}">
        <p14:creationId xmlns:p14="http://schemas.microsoft.com/office/powerpoint/2010/main" val="26677364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E8F6-5816-B60C-E69B-9F9B1A74EB8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337CABB-DFE7-0977-C7F9-A8BAFBF74B55}"/>
              </a:ext>
            </a:extLst>
          </p:cNvPr>
          <p:cNvSpPr txBox="1"/>
          <p:nvPr/>
        </p:nvSpPr>
        <p:spPr>
          <a:xfrm>
            <a:off x="857865" y="393290"/>
            <a:ext cx="8815524" cy="400110"/>
          </a:xfrm>
          <a:prstGeom prst="rect">
            <a:avLst/>
          </a:prstGeom>
          <a:noFill/>
        </p:spPr>
        <p:txBody>
          <a:bodyPr wrap="square" rtlCol="0">
            <a:spAutoFit/>
          </a:bodyPr>
          <a:lstStyle/>
          <a:p>
            <a:r>
              <a:rPr lang="en-US" sz="2000" b="1" dirty="0">
                <a:latin typeface="Lucida Fax" panose="02060602050505020204" pitchFamily="18" charset="0"/>
              </a:rPr>
              <a:t>11. Batters with Highest Strike Rate</a:t>
            </a:r>
          </a:p>
        </p:txBody>
      </p:sp>
      <p:sp>
        <p:nvSpPr>
          <p:cNvPr id="6" name="TextBox 5">
            <a:extLst>
              <a:ext uri="{FF2B5EF4-FFF2-40B4-BE49-F238E27FC236}">
                <a16:creationId xmlns:a16="http://schemas.microsoft.com/office/drawing/2014/main" id="{CB405C8F-D1CD-AD99-024A-98D0EFB988D7}"/>
              </a:ext>
            </a:extLst>
          </p:cNvPr>
          <p:cNvSpPr txBox="1"/>
          <p:nvPr/>
        </p:nvSpPr>
        <p:spPr>
          <a:xfrm>
            <a:off x="5669280" y="5191068"/>
            <a:ext cx="5953760" cy="954107"/>
          </a:xfrm>
          <a:prstGeom prst="rect">
            <a:avLst/>
          </a:prstGeom>
          <a:noFill/>
        </p:spPr>
        <p:txBody>
          <a:bodyPr wrap="square" rtlCol="0">
            <a:spAutoFit/>
          </a:bodyPr>
          <a:lstStyle/>
          <a:p>
            <a:pPr marL="285750" indent="-285750">
              <a:buFont typeface="Arial" panose="020B0604020202020204" pitchFamily="34" charset="0"/>
              <a:buChar char="•"/>
            </a:pPr>
            <a:r>
              <a:rPr lang="en-US" b="1" dirty="0"/>
              <a:t>Pranav from Jharkhand with average of 46.10 runs is one of the emerging players.</a:t>
            </a:r>
          </a:p>
          <a:p>
            <a:pPr marL="285750" indent="-285750">
              <a:buFont typeface="Arial" panose="020B0604020202020204" pitchFamily="34" charset="0"/>
              <a:buChar char="•"/>
            </a:pPr>
            <a:r>
              <a:rPr lang="en-US" b="1" dirty="0"/>
              <a:t>The list also include Abhinav from Jharkhand, another Abhinav from Puducherry.</a:t>
            </a:r>
            <a:endParaRPr lang="en-IN" b="1" dirty="0"/>
          </a:p>
        </p:txBody>
      </p:sp>
      <p:pic>
        <p:nvPicPr>
          <p:cNvPr id="3" name="Picture 2">
            <a:extLst>
              <a:ext uri="{FF2B5EF4-FFF2-40B4-BE49-F238E27FC236}">
                <a16:creationId xmlns:a16="http://schemas.microsoft.com/office/drawing/2014/main" id="{61C4A124-6A1A-1B11-6629-455366AB93DA}"/>
              </a:ext>
            </a:extLst>
          </p:cNvPr>
          <p:cNvPicPr>
            <a:picLocks noChangeAspect="1"/>
          </p:cNvPicPr>
          <p:nvPr/>
        </p:nvPicPr>
        <p:blipFill>
          <a:blip r:embed="rId2"/>
          <a:stretch>
            <a:fillRect/>
          </a:stretch>
        </p:blipFill>
        <p:spPr>
          <a:xfrm>
            <a:off x="444182" y="928268"/>
            <a:ext cx="4943475" cy="5343525"/>
          </a:xfrm>
          <a:prstGeom prst="rect">
            <a:avLst/>
          </a:prstGeom>
        </p:spPr>
      </p:pic>
      <p:pic>
        <p:nvPicPr>
          <p:cNvPr id="7" name="Picture 6">
            <a:extLst>
              <a:ext uri="{FF2B5EF4-FFF2-40B4-BE49-F238E27FC236}">
                <a16:creationId xmlns:a16="http://schemas.microsoft.com/office/drawing/2014/main" id="{D7C9C2A8-CBDD-C399-9489-354F565FF29E}"/>
              </a:ext>
            </a:extLst>
          </p:cNvPr>
          <p:cNvPicPr>
            <a:picLocks noChangeAspect="1"/>
          </p:cNvPicPr>
          <p:nvPr/>
        </p:nvPicPr>
        <p:blipFill>
          <a:blip r:embed="rId3"/>
          <a:stretch>
            <a:fillRect/>
          </a:stretch>
        </p:blipFill>
        <p:spPr>
          <a:xfrm>
            <a:off x="5669280" y="928268"/>
            <a:ext cx="5953760" cy="4050132"/>
          </a:xfrm>
          <a:prstGeom prst="rect">
            <a:avLst/>
          </a:prstGeom>
        </p:spPr>
      </p:pic>
    </p:spTree>
    <p:extLst>
      <p:ext uri="{BB962C8B-B14F-4D97-AF65-F5344CB8AC3E}">
        <p14:creationId xmlns:p14="http://schemas.microsoft.com/office/powerpoint/2010/main" val="911173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5CB0B8-4A03-7774-2EFB-1ED4A35DC12B}"/>
              </a:ext>
            </a:extLst>
          </p:cNvPr>
          <p:cNvPicPr>
            <a:picLocks noChangeAspect="1"/>
          </p:cNvPicPr>
          <p:nvPr/>
        </p:nvPicPr>
        <p:blipFill>
          <a:blip r:embed="rId2"/>
          <a:stretch>
            <a:fillRect/>
          </a:stretch>
        </p:blipFill>
        <p:spPr>
          <a:xfrm>
            <a:off x="466228" y="254000"/>
            <a:ext cx="11299052" cy="5971187"/>
          </a:xfrm>
          <a:prstGeom prst="rect">
            <a:avLst/>
          </a:prstGeom>
        </p:spPr>
      </p:pic>
    </p:spTree>
    <p:extLst>
      <p:ext uri="{BB962C8B-B14F-4D97-AF65-F5344CB8AC3E}">
        <p14:creationId xmlns:p14="http://schemas.microsoft.com/office/powerpoint/2010/main" val="1019486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8815"/>
          </a:xfrm>
        </p:spPr>
        <p:txBody>
          <a:bodyPr>
            <a:normAutofit fontScale="90000"/>
          </a:bodyPr>
          <a:lstStyle/>
          <a:p>
            <a:r>
              <a:rPr lang="en-US" altLang="en-US" sz="4445" b="1" dirty="0">
                <a:solidFill>
                  <a:srgbClr val="FF0000"/>
                </a:solidFill>
                <a:latin typeface="Arial" panose="020B0604020202020204" pitchFamily="34" charset="0"/>
                <a:cs typeface="Arial" panose="020B0604020202020204" pitchFamily="34" charset="0"/>
              </a:rPr>
              <a:t>I</a:t>
            </a:r>
            <a:r>
              <a:rPr lang="en-IN" altLang="en-US" sz="4445" b="1" dirty="0" err="1">
                <a:solidFill>
                  <a:srgbClr val="FF0000"/>
                </a:solidFill>
                <a:latin typeface="Arial" panose="020B0604020202020204" pitchFamily="34" charset="0"/>
                <a:cs typeface="Arial" panose="020B0604020202020204" pitchFamily="34" charset="0"/>
              </a:rPr>
              <a:t>nsights</a:t>
            </a:r>
            <a:endParaRPr lang="en-IN" altLang="en-US" sz="4445" b="1" dirty="0">
              <a:solidFill>
                <a:srgbClr val="FF0000"/>
              </a:solidFill>
              <a:latin typeface="Arial" panose="020B0604020202020204" pitchFamily="34" charset="0"/>
              <a:cs typeface="Arial" panose="020B0604020202020204" pitchFamily="34" charset="0"/>
            </a:endParaRPr>
          </a:p>
        </p:txBody>
      </p:sp>
      <p:sp>
        <p:nvSpPr>
          <p:cNvPr id="5" name="Text Placeholder 4"/>
          <p:cNvSpPr>
            <a:spLocks noGrp="1"/>
          </p:cNvSpPr>
          <p:nvPr>
            <p:ph type="body" idx="1"/>
          </p:nvPr>
        </p:nvSpPr>
        <p:spPr>
          <a:xfrm>
            <a:off x="540645" y="1043940"/>
            <a:ext cx="10515600" cy="5229860"/>
          </a:xfrm>
        </p:spPr>
        <p:txBody>
          <a:bodyPr anchor="t">
            <a:noAutofit/>
          </a:bodyPr>
          <a:lstStyle/>
          <a:p>
            <a:pPr>
              <a:lnSpc>
                <a:spcPct val="100000"/>
              </a:lnSpc>
            </a:pPr>
            <a:r>
              <a:rPr lang="en-US" sz="1800" dirty="0">
                <a:latin typeface="Lucida Fax" panose="02060602050505020204" pitchFamily="18" charset="0"/>
              </a:rPr>
              <a:t>There are 138 matches conducted in the tournament amongst 38 teams.</a:t>
            </a:r>
          </a:p>
          <a:p>
            <a:pPr>
              <a:lnSpc>
                <a:spcPct val="100000"/>
              </a:lnSpc>
            </a:pPr>
            <a:r>
              <a:rPr lang="en-US" sz="1800" dirty="0">
                <a:latin typeface="Lucida Fax" panose="02060602050505020204" pitchFamily="18" charset="0"/>
              </a:rPr>
              <a:t>Pranav from Tamil Nadu is the top scorer of the tournament with 959 runs followed by Arjun from Goa team. </a:t>
            </a:r>
            <a:endParaRPr lang="en-IN" sz="1800" dirty="0">
              <a:latin typeface="Lucida Fax" panose="02060602050505020204" pitchFamily="18" charset="0"/>
            </a:endParaRPr>
          </a:p>
          <a:p>
            <a:pPr marL="342900"/>
            <a:r>
              <a:rPr lang="en-US" sz="1800" dirty="0">
                <a:latin typeface="Lucida Fax" panose="02060602050505020204" pitchFamily="18" charset="0"/>
              </a:rPr>
              <a:t> Pranav from Jharkhand with average of 46.10 runs is one of the emerging players.</a:t>
            </a:r>
          </a:p>
          <a:p>
            <a:pPr marL="342900"/>
            <a:r>
              <a:rPr lang="en-US" sz="1800" dirty="0">
                <a:latin typeface="Lucida Fax" panose="02060602050505020204" pitchFamily="18" charset="0"/>
              </a:rPr>
              <a:t> The list also include Abhinav from Jharkhand, another Abhinav from Puducherry.</a:t>
            </a:r>
            <a:endParaRPr lang="en-IN" sz="1800" dirty="0">
              <a:latin typeface="Lucida Fax" panose="02060602050505020204" pitchFamily="18" charset="0"/>
            </a:endParaRPr>
          </a:p>
          <a:p>
            <a:pPr marL="342900"/>
            <a:r>
              <a:rPr lang="en-US" sz="1800" dirty="0">
                <a:latin typeface="Lucida Fax" panose="02060602050505020204" pitchFamily="18" charset="0"/>
              </a:rPr>
              <a:t> Harsh and Sai from Goa contributed with both bat and ball with 585 runs 2 wickets  and 593 runs 18 wickets respectively. </a:t>
            </a:r>
          </a:p>
          <a:p>
            <a:pPr marL="342900"/>
            <a:r>
              <a:rPr lang="en-US" sz="1800" dirty="0">
                <a:latin typeface="Lucida Fax" panose="02060602050505020204" pitchFamily="18" charset="0"/>
              </a:rPr>
              <a:t> All rounders bring balance in the team with both bat and ball.</a:t>
            </a:r>
          </a:p>
          <a:p>
            <a:pPr marL="342900"/>
            <a:r>
              <a:rPr lang="en-US" sz="1800" dirty="0">
                <a:latin typeface="Lucida Fax" panose="02060602050505020204" pitchFamily="18" charset="0"/>
              </a:rPr>
              <a:t> Arjun from Goa is most consistent player in the tournament.</a:t>
            </a:r>
            <a:endParaRPr lang="en-IN" sz="1800" dirty="0">
              <a:latin typeface="Lucida Fax" panose="02060602050505020204" pitchFamily="18" charset="0"/>
            </a:endParaRPr>
          </a:p>
          <a:p>
            <a:pPr marL="0" indent="0">
              <a:buNone/>
            </a:pPr>
            <a:endParaRPr lang="en-IN" sz="1800" dirty="0">
              <a:latin typeface="Lucida Fax" panose="02060602050505020204" pitchFamily="18" charset="0"/>
            </a:endParaRPr>
          </a:p>
          <a:p>
            <a:pPr marL="114300" indent="0">
              <a:lnSpc>
                <a:spcPct val="100000"/>
              </a:lnSpc>
              <a:buNone/>
            </a:pPr>
            <a:endParaRPr lang="en-US" sz="1800" dirty="0">
              <a:latin typeface="Lucida Fax" panose="0206060205050502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857250"/>
          </a:xfrm>
        </p:spPr>
        <p:txBody>
          <a:bodyPr/>
          <a:lstStyle/>
          <a:p>
            <a:r>
              <a:rPr lang="en-IN" altLang="en-US" sz="4000" b="1" dirty="0">
                <a:solidFill>
                  <a:srgbClr val="FF0000"/>
                </a:solidFill>
                <a:latin typeface="Arial" panose="020B0604020202020204" pitchFamily="34" charset="0"/>
                <a:cs typeface="Arial" panose="020B0604020202020204" pitchFamily="34" charset="0"/>
              </a:rPr>
              <a:t>Recommendations</a:t>
            </a:r>
          </a:p>
        </p:txBody>
      </p:sp>
      <p:sp>
        <p:nvSpPr>
          <p:cNvPr id="2" name="Text Placeholder 1">
            <a:extLst>
              <a:ext uri="{FF2B5EF4-FFF2-40B4-BE49-F238E27FC236}">
                <a16:creationId xmlns:a16="http://schemas.microsoft.com/office/drawing/2014/main" id="{8C95C505-B8FC-FB03-5895-E2E3C960CDB7}"/>
              </a:ext>
            </a:extLst>
          </p:cNvPr>
          <p:cNvSpPr>
            <a:spLocks noGrp="1" noChangeArrowheads="1"/>
          </p:cNvSpPr>
          <p:nvPr>
            <p:ph type="body" idx="1"/>
          </p:nvPr>
        </p:nvSpPr>
        <p:spPr bwMode="auto">
          <a:xfrm>
            <a:off x="381318" y="1473283"/>
            <a:ext cx="1115028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Lucida Fax" panose="02060602050505020204" pitchFamily="18" charset="0"/>
              </a:rPr>
              <a:t>The Bowlers with more economy and less wickets taken should work </a:t>
            </a:r>
            <a:r>
              <a:rPr lang="en-US" altLang="en-US" sz="1800" dirty="0">
                <a:solidFill>
                  <a:schemeClr val="tx1"/>
                </a:solidFill>
                <a:latin typeface="Lucida Fax" panose="02060602050505020204" pitchFamily="18" charset="0"/>
              </a:rPr>
              <a:t>on their bowling strengths.</a:t>
            </a:r>
          </a:p>
          <a:p>
            <a:pPr marL="0" marR="0" lvl="0" indent="0" algn="l" defTabSz="914400" rtl="0" eaLnBrk="0" fontAlgn="base" latinLnBrk="0" hangingPunct="0">
              <a:lnSpc>
                <a:spcPct val="150000"/>
              </a:lnSpc>
              <a:spcBef>
                <a:spcPct val="0"/>
              </a:spcBef>
              <a:spcAft>
                <a:spcPct val="0"/>
              </a:spcAft>
              <a:buClrTx/>
              <a:buSzTx/>
              <a:buFontTx/>
              <a:buChar char="•"/>
              <a:tabLst/>
            </a:pPr>
            <a:endParaRPr lang="en-US" altLang="en-US" sz="1800" dirty="0">
              <a:solidFill>
                <a:schemeClr val="tx1"/>
              </a:solidFill>
              <a:latin typeface="Lucida Fax" panose="0206060205050502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Lucida Fax" panose="02060602050505020204" pitchFamily="18" charset="0"/>
              </a:rPr>
              <a:t>The Batters who have less strike rate and low scores needs to improve in the areas  where they lose wicket easily.</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Lucida Fax" panose="0206060205050502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1800" dirty="0">
                <a:solidFill>
                  <a:schemeClr val="tx1"/>
                </a:solidFill>
                <a:latin typeface="Lucida Fax" panose="02060602050505020204" pitchFamily="18" charset="0"/>
              </a:rPr>
              <a:t>Players who contribute with bat and ball are key players.</a:t>
            </a:r>
            <a:endParaRPr kumimoji="0" lang="en-US" altLang="en-US" sz="1800" i="0" u="none" strike="noStrike" cap="none" normalizeH="0" baseline="0" dirty="0">
              <a:ln>
                <a:noFill/>
              </a:ln>
              <a:solidFill>
                <a:schemeClr val="tx1"/>
              </a:solidFill>
              <a:effectLst/>
              <a:latin typeface="Lucida Fax" panose="0206060205050502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Lucida Fax" panose="020606020505050202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76945B-0BE0-2F0C-14FE-99C4EDB48295}"/>
              </a:ext>
            </a:extLst>
          </p:cNvPr>
          <p:cNvPicPr>
            <a:picLocks noChangeAspect="1"/>
          </p:cNvPicPr>
          <p:nvPr/>
        </p:nvPicPr>
        <p:blipFill>
          <a:blip r:embed="rId2"/>
          <a:stretch>
            <a:fillRect/>
          </a:stretch>
        </p:blipFill>
        <p:spPr>
          <a:xfrm>
            <a:off x="1007806" y="650896"/>
            <a:ext cx="10176387" cy="51136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dirty="0">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5027</TotalTime>
  <Words>1080</Words>
  <Application>Microsoft Office PowerPoint</Application>
  <PresentationFormat>Widescreen</PresentationFormat>
  <Paragraphs>122</Paragraphs>
  <Slides>24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Lucida Fax</vt:lpstr>
      <vt:lpstr>Arial</vt:lpstr>
      <vt:lpstr>Libre Baskerville</vt:lpstr>
      <vt:lpstr>Calibri</vt:lpstr>
      <vt:lpstr>Office Theme</vt:lpstr>
      <vt:lpstr>PowerPoint Presentation</vt:lpstr>
      <vt:lpstr>About me</vt:lpstr>
      <vt:lpstr>Agenda </vt:lpstr>
      <vt:lpstr>Tools Used </vt:lpstr>
      <vt:lpstr>Business Problem</vt:lpstr>
      <vt:lpstr>Problem Statement</vt:lpstr>
      <vt:lpstr>Objective of Project</vt:lpstr>
      <vt:lpstr>ER Diagram and Schema Explanation</vt:lpstr>
      <vt:lpstr>SQL Queries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Venkata Srikar</cp:lastModifiedBy>
  <cp:revision>31</cp:revision>
  <dcterms:created xsi:type="dcterms:W3CDTF">2026-06-09T10:29:00Z</dcterms:created>
  <dcterms:modified xsi:type="dcterms:W3CDTF">2026-07-11T11:17:34Z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C09BEBDBC0EC493C92EB0CF13BD90C45_13</vt:lpwstr>
  </property>
</Properties>
</file>